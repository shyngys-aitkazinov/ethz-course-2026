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28"/>
    <p:restoredTop sz="94610"/>
  </p:normalViewPr>
  <p:slideViewPr>
    <p:cSldViewPr snapToGrid="0" snapToObjects="1">
      <p:cViewPr varScale="1">
        <p:scale>
          <a:sx n="128" d="100"/>
          <a:sy n="128" d="100"/>
        </p:scale>
        <p:origin x="192"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857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Shyngys. In this five-minute video I'll walk through my Homework 4 submission — four reinforcement learning exercises, starting from tabular dynamic programming and ending with deep continuous control on a 6-DOF robot arm.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 is Cliff Walking — a 4 by 12 grid MDP. I implemented both policy iteration and value iteration.
Policy iteration alternates two phases: fully evaluate the current policy until V-pi converges, then take one greedy improvement step. Fewer outer iterations but each is expensive.
Value iteration collapses both into a single Bellman optimality backup per sweep — more iterations, but each is cheap.
On gamma: near zero the agent is myopic and won't plan to the goal; near one it's far-sighted but convergence slows since value differences shrink.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optimal value and policy shift with the slip probability.
Top row is the state-value function — darker blue means lower value. Notice that at slip zero, the cliff boundary is sharply defined. As slip grows, the danger spreads upward into previously safe cells.
Bottom row is the policy. At slip zero the agent walks directly along the cliff edge — no risk, shortest path wins. At 0.01 the risk is tiny, so it barely changes. At 0.2 the agent detours all the way up to the top row.
Each cliff-adjacent step carries an expected penalty of slip times one-quarter times minus 100. At 20 percent that's roughly minus five per step, which far exceeds the minus one per extra step of the longer safe path. So higher stochasticity makes the optimal policy risk-averse.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2 — DQN on CartPole. The agent sees four continuous state variables and picks left or right.
The training curve shows the classic DQN pattern: it's flat until around episode one hundred, then rapidly climbs. After training, evaluation over fifty episodes gives a mean return of exactly five hundred — a perfect one-hundred-percent success rate with zero variance.
My final hyperparameters: learning rate one-e-minus-three, epsilon 0.03, target network update every ten steps, hidden dimension 128.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for DQN.
First, experience replay. Consecutive transitions are highly correlated — same policy, similar states. This breaks i-i-d assumptions of SGD. Random mini-batches from the buffer decorrelate updates and let us reuse each transition many times.
Second, the target network. Without it, both the prediction and the target share theta, so every gradient step moves both sides — a moving target that causes divergence. A frozen copy of theta, synced every N steps, gives us a stable objective.
Third, Double DQN. The max operator over noisy Q-estimates is biased upward. Double DQN decouples selection from evaluation — pick the action with the online net, evaluate it with the target net — which decorrelates the noise and removes the bias.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3 moves to continuous control — PPO on the SO100 arm, a six-DOF end-effector tracking task.
Over 500 iterations the eval return climbs steadily from around 5 to about 55, and the tracking error drops from 0.18 meters to under 2 centimeters. The final mean over 20 evaluation episodes is 54.7 return, with 1.8 centimeter mean tracking error. The policy has clearly learned the task.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PPO questions.
Why clip instead of enforcing a KL constraint like TRPO? TRPO needs second-order methods — Fisher matrix, conjugate gradient, line search. PPO gets a similar soft trust region using only first-order Adam. Without clipping, one large importance ratio can blow up the policy in a single step.
Why not reuse rollouts? PPO is on-policy — advantages and log-probs are only valid under the collecting policy. After a few epochs, the policy drifts, importance weights explode, advantages go stale, and clipping just silently zeroes the gradients.
Third, GAE lambda. It's the bias-variance dial. Lambda zero is one-step TD — low variance, high bias. Lambda one is pure Monte Carlo — unbiased but noisy. 0.95 is the practical sweet spot with a roughly ten-step effective horizon.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4 — SAC on the same SO100 task. SAC is off-policy with a maximum entropy objective.
The return climbs to around 42 with a 3.1-centimeter tracking error. The alpha plot on the bottom right shows the auto-tuned temperature spiking early — the policy was too random — then settling around 0.05 once the target entropy is reached. The whole thing is self-regulating.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SAC design choices.
First, the entropy bonus. SAC maximizes reward plus alpha times the policy's entropy. This encourages systematic exploration, prevents premature collapse to a deterministic suboptimal policy, and makes the policy more robust to perturbations. It also keeps mass on multiple good actions — useful when the task is multi-modal.
Second, the tanh squashing. The actor samples u from a Gaussian, then squashes with tanh to keep actions in minus-one to one. But tanh is nonlinear, so the change-of-variables formula requires a log-Jacobian correction: log of one minus tanh-squared. Without it, the log-probability is wrong, entropy is overestimated, alpha tunes to the wrong level, and the actor gets biased gradients.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 alpha works via gradient descent on an objective that's positive when entropy drops below target and negative when it's above. So if the policy becomes too random, alpha decreases and lets it sharpen. If it becomes too certain, alpha increases and pushes it to explore. The equilibrium holds entropy at roughly minus the action dimension.
The UTD ratio — gradient updates per environment step — highlights the core difference between PPO and SAC. PPO runs ten epochs over two thousand transitions, giving a UTD of about one percent. SAC does roughly one gradient step per new transition, so UTD is about one. That's why SAC is roughly ten times more sample-efficient, but costs ten times more compute per environment step.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On-policy versus off-policy — the big-picture tradeoff.
On-policy PPO is simple, stable, and easy to parallelize, but sample-inefficient — each transition is used once and discarded.
Off-policy SAC reuses data via a replay buffer, so it's roughly ten times more sample-efficient, but more complex and sensitive to hyperparameters.
The practical rule: PPO when simulation is cheap, SAC when every environment sample costs money — like real robots.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 to head on the exact same task: PPO reaches 54.7 return versus SAC's 42.1, with slightly lower tracking error. Same 500 iterations, same reward structure — the gap is mostly about how each algorithm uses data.
That wraps up the four exercises.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96167"/>
          </a:solidFill>
          <a:ln w="12700">
            <a:solidFill>
              <a:srgbClr val="F96167"/>
            </a:solidFill>
            <a:prstDash val="solid"/>
          </a:ln>
        </p:spPr>
        <p:txBody>
          <a:bodyPr/>
          <a:lstStyle/>
          <a:p>
            <a:endParaRPr lang="en-KZ"/>
          </a:p>
        </p:txBody>
      </p:sp>
      <p:sp>
        <p:nvSpPr>
          <p:cNvPr id="3" name="Shape 1"/>
          <p:cNvSpPr/>
          <p:nvPr/>
        </p:nvSpPr>
        <p:spPr>
          <a:xfrm>
            <a:off x="9418320" y="-1828800"/>
            <a:ext cx="5486400" cy="5486400"/>
          </a:xfrm>
          <a:prstGeom prst="ellipse">
            <a:avLst/>
          </a:prstGeom>
          <a:solidFill>
            <a:srgbClr val="2D3F7D">
              <a:alpha val="40000"/>
            </a:srgbClr>
          </a:solidFill>
          <a:ln w="12700">
            <a:solidFill>
              <a:srgbClr val="2D3F7D"/>
            </a:solidFill>
            <a:prstDash val="solid"/>
          </a:ln>
        </p:spPr>
        <p:txBody>
          <a:bodyPr/>
          <a:lstStyle/>
          <a:p>
            <a:endParaRPr lang="en-KZ"/>
          </a:p>
        </p:txBody>
      </p:sp>
      <p:sp>
        <p:nvSpPr>
          <p:cNvPr id="4" name="Shape 2"/>
          <p:cNvSpPr/>
          <p:nvPr/>
        </p:nvSpPr>
        <p:spPr>
          <a:xfrm>
            <a:off x="10789920" y="5029200"/>
            <a:ext cx="2743200" cy="2743200"/>
          </a:xfrm>
          <a:prstGeom prst="ellipse">
            <a:avLst/>
          </a:prstGeom>
          <a:solidFill>
            <a:srgbClr val="F96167">
              <a:alpha val="30000"/>
            </a:srgbClr>
          </a:solidFill>
          <a:ln w="12700">
            <a:solidFill>
              <a:srgbClr val="F96167"/>
            </a:solidFill>
            <a:prstDash val="solid"/>
          </a:ln>
        </p:spPr>
        <p:txBody>
          <a:bodyPr/>
          <a:lstStyle/>
          <a:p>
            <a:endParaRPr lang="en-KZ"/>
          </a:p>
        </p:txBody>
      </p:sp>
      <p:sp>
        <p:nvSpPr>
          <p:cNvPr id="5" name="Text 3"/>
          <p:cNvSpPr/>
          <p:nvPr/>
        </p:nvSpPr>
        <p:spPr>
          <a:xfrm>
            <a:off x="731520" y="2011680"/>
            <a:ext cx="9144000" cy="457200"/>
          </a:xfrm>
          <a:prstGeom prst="rect">
            <a:avLst/>
          </a:prstGeom>
          <a:noFill/>
          <a:ln/>
        </p:spPr>
        <p:txBody>
          <a:bodyPr wrap="square" lIns="0" tIns="0" rIns="0" bIns="0" rtlCol="0" anchor="ctr"/>
          <a:lstStyle/>
          <a:p>
            <a:pPr marL="0" indent="0">
              <a:buNone/>
            </a:pPr>
            <a:r>
              <a:rPr lang="en-US" sz="1600" b="1" kern="0" spc="800" dirty="0">
                <a:solidFill>
                  <a:srgbClr val="CADCFC"/>
                </a:solidFill>
                <a:latin typeface="Calibri" pitchFamily="34" charset="0"/>
                <a:ea typeface="Calibri" pitchFamily="34" charset="-122"/>
                <a:cs typeface="Calibri" pitchFamily="34" charset="-120"/>
              </a:rPr>
              <a:t>HOMEWORK 4</a:t>
            </a:r>
            <a:endParaRPr lang="en-US" sz="1600" dirty="0"/>
          </a:p>
        </p:txBody>
      </p:sp>
      <p:sp>
        <p:nvSpPr>
          <p:cNvPr id="6" name="Text 4"/>
          <p:cNvSpPr/>
          <p:nvPr/>
        </p:nvSpPr>
        <p:spPr>
          <a:xfrm>
            <a:off x="731520" y="2560320"/>
            <a:ext cx="10972800" cy="109728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Reinforcement Learning</a:t>
            </a:r>
            <a:endParaRPr lang="en-US" sz="5600" dirty="0"/>
          </a:p>
        </p:txBody>
      </p:sp>
      <p:sp>
        <p:nvSpPr>
          <p:cNvPr id="7" name="Text 5"/>
          <p:cNvSpPr/>
          <p:nvPr/>
        </p:nvSpPr>
        <p:spPr>
          <a:xfrm>
            <a:off x="731520" y="3657600"/>
            <a:ext cx="10058400" cy="45720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From Tabular MDPs to Deep Continuous Control</a:t>
            </a:r>
            <a:endParaRPr lang="en-US" sz="2000" dirty="0"/>
          </a:p>
        </p:txBody>
      </p:sp>
      <p:sp>
        <p:nvSpPr>
          <p:cNvPr id="8" name="Shape 6"/>
          <p:cNvSpPr/>
          <p:nvPr/>
        </p:nvSpPr>
        <p:spPr>
          <a:xfrm>
            <a:off x="731520" y="4754880"/>
            <a:ext cx="1828800" cy="0"/>
          </a:xfrm>
          <a:prstGeom prst="line">
            <a:avLst/>
          </a:prstGeom>
          <a:noFill/>
          <a:ln w="25400">
            <a:solidFill>
              <a:srgbClr val="F96167"/>
            </a:solidFill>
            <a:prstDash val="solid"/>
          </a:ln>
        </p:spPr>
        <p:txBody>
          <a:bodyPr/>
          <a:lstStyle/>
          <a:p>
            <a:endParaRPr lang="en-KZ"/>
          </a:p>
        </p:txBody>
      </p:sp>
      <p:sp>
        <p:nvSpPr>
          <p:cNvPr id="9" name="Text 7"/>
          <p:cNvSpPr/>
          <p:nvPr/>
        </p:nvSpPr>
        <p:spPr>
          <a:xfrm>
            <a:off x="731520" y="4937760"/>
            <a:ext cx="73152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Shyngys Aitkainov</a:t>
            </a:r>
            <a:endParaRPr lang="en-US" sz="1600" dirty="0"/>
          </a:p>
        </p:txBody>
      </p:sp>
      <p:sp>
        <p:nvSpPr>
          <p:cNvPr id="10" name="Text 8"/>
          <p:cNvSpPr/>
          <p:nvPr/>
        </p:nvSpPr>
        <p:spPr>
          <a:xfrm>
            <a:off x="731520" y="5303520"/>
            <a:ext cx="731520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ETH Zurich  ·  Robot Learning 2026</a:t>
            </a:r>
            <a:endParaRPr lang="en-US" sz="1300" dirty="0"/>
          </a:p>
        </p:txBody>
      </p:sp>
      <p:sp>
        <p:nvSpPr>
          <p:cNvPr id="11" name="Text 9"/>
          <p:cNvSpPr/>
          <p:nvPr/>
        </p:nvSpPr>
        <p:spPr>
          <a:xfrm>
            <a:off x="731520" y="6126480"/>
            <a:ext cx="5486400" cy="274320"/>
          </a:xfrm>
          <a:prstGeom prst="rect">
            <a:avLst/>
          </a:prstGeom>
          <a:noFill/>
          <a:ln/>
        </p:spPr>
        <p:txBody>
          <a:bodyPr wrap="square" lIns="0" tIns="0" rIns="0" bIns="0" rtlCol="0" anchor="ctr"/>
          <a:lstStyle/>
          <a:p>
            <a:pPr marL="0" indent="0">
              <a:buNone/>
            </a:pPr>
            <a:r>
              <a:rPr lang="en-US" sz="1100" kern="0" spc="600" dirty="0">
                <a:solidFill>
                  <a:srgbClr val="F96167"/>
                </a:solidFill>
                <a:latin typeface="Calibri" pitchFamily="34" charset="0"/>
                <a:ea typeface="Calibri" pitchFamily="34" charset="-122"/>
                <a:cs typeface="Calibri" pitchFamily="34" charset="-120"/>
              </a:rPr>
              <a:t>01 · 02 · 03 · 04</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000" advTm="3747"/>
    </mc:Choice>
    <mc:Fallback xmlns="">
      <p:transition spd="slow" advTm="374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1 · MDP</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Dynamic Programming on Cliff Walking</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sp>
        <p:nvSpPr>
          <p:cNvPr id="6" name="Shape 4"/>
          <p:cNvSpPr/>
          <p:nvPr/>
        </p:nvSpPr>
        <p:spPr>
          <a:xfrm>
            <a:off x="548640" y="1828800"/>
            <a:ext cx="5486400" cy="201168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7" name="Shape 5"/>
          <p:cNvSpPr/>
          <p:nvPr/>
        </p:nvSpPr>
        <p:spPr>
          <a:xfrm>
            <a:off x="548640" y="1828800"/>
            <a:ext cx="73152" cy="2011680"/>
          </a:xfrm>
          <a:prstGeom prst="rect">
            <a:avLst/>
          </a:prstGeom>
          <a:solidFill>
            <a:srgbClr val="1E2761"/>
          </a:solidFill>
          <a:ln w="12700">
            <a:solidFill>
              <a:srgbClr val="1E2761"/>
            </a:solidFill>
            <a:prstDash val="solid"/>
          </a:ln>
        </p:spPr>
        <p:txBody>
          <a:bodyPr/>
          <a:lstStyle/>
          <a:p>
            <a:endParaRPr lang="en-KZ"/>
          </a:p>
        </p:txBody>
      </p:sp>
      <p:sp>
        <p:nvSpPr>
          <p:cNvPr id="8" name="Text 6"/>
          <p:cNvSpPr/>
          <p:nvPr/>
        </p:nvSpPr>
        <p:spPr>
          <a:xfrm>
            <a:off x="822960" y="1920240"/>
            <a:ext cx="5029200" cy="36576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Policy Iteration</a:t>
            </a:r>
            <a:endParaRPr lang="en-US" sz="1800" dirty="0"/>
          </a:p>
        </p:txBody>
      </p:sp>
      <p:sp>
        <p:nvSpPr>
          <p:cNvPr id="9" name="Text 7"/>
          <p:cNvSpPr/>
          <p:nvPr/>
        </p:nvSpPr>
        <p:spPr>
          <a:xfrm>
            <a:off x="822960" y="2331720"/>
            <a:ext cx="5029200" cy="1508760"/>
          </a:xfrm>
          <a:prstGeom prst="rect">
            <a:avLst/>
          </a:prstGeom>
          <a:noFill/>
          <a:ln/>
        </p:spPr>
        <p:txBody>
          <a:bodyPr wrap="square" rtlCol="0" anchor="ctr"/>
          <a:lstStyle/>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Full evaluation (inner loop) then greedy improvement.</a:t>
            </a:r>
            <a:endParaRPr lang="en-US" sz="1300" dirty="0"/>
          </a:p>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V(s) = Σₐ π(s,a) · Σ P(s'|s,a)·[r + γV(s')]</a:t>
            </a:r>
            <a:endParaRPr lang="en-US" sz="1300" dirty="0"/>
          </a:p>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Fewer outer iterations, each is expensive.</a:t>
            </a:r>
            <a:endParaRPr lang="en-US" sz="1300" dirty="0"/>
          </a:p>
        </p:txBody>
      </p:sp>
      <p:sp>
        <p:nvSpPr>
          <p:cNvPr id="10" name="Shape 8"/>
          <p:cNvSpPr/>
          <p:nvPr/>
        </p:nvSpPr>
        <p:spPr>
          <a:xfrm>
            <a:off x="548640" y="4023360"/>
            <a:ext cx="5486400" cy="201168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11" name="Shape 9"/>
          <p:cNvSpPr/>
          <p:nvPr/>
        </p:nvSpPr>
        <p:spPr>
          <a:xfrm>
            <a:off x="548640" y="4023360"/>
            <a:ext cx="73152" cy="2011680"/>
          </a:xfrm>
          <a:prstGeom prst="rect">
            <a:avLst/>
          </a:prstGeom>
          <a:solidFill>
            <a:srgbClr val="F96167"/>
          </a:solidFill>
          <a:ln w="12700">
            <a:solidFill>
              <a:srgbClr val="F96167"/>
            </a:solidFill>
            <a:prstDash val="solid"/>
          </a:ln>
        </p:spPr>
        <p:txBody>
          <a:bodyPr/>
          <a:lstStyle/>
          <a:p>
            <a:endParaRPr lang="en-KZ"/>
          </a:p>
        </p:txBody>
      </p:sp>
      <p:sp>
        <p:nvSpPr>
          <p:cNvPr id="12" name="Text 10"/>
          <p:cNvSpPr/>
          <p:nvPr/>
        </p:nvSpPr>
        <p:spPr>
          <a:xfrm>
            <a:off x="822960" y="4114800"/>
            <a:ext cx="5029200" cy="365760"/>
          </a:xfrm>
          <a:prstGeom prst="rect">
            <a:avLst/>
          </a:prstGeom>
          <a:noFill/>
          <a:ln/>
        </p:spPr>
        <p:txBody>
          <a:bodyPr wrap="square" lIns="0" tIns="0" rIns="0" bIns="0" rtlCol="0" anchor="ctr"/>
          <a:lstStyle/>
          <a:p>
            <a:pPr marL="0" indent="0">
              <a:buNone/>
            </a:pPr>
            <a:r>
              <a:rPr lang="en-US" sz="1800" b="1" dirty="0">
                <a:solidFill>
                  <a:srgbClr val="F96167"/>
                </a:solidFill>
                <a:latin typeface="Cambria" pitchFamily="34" charset="0"/>
                <a:ea typeface="Cambria" pitchFamily="34" charset="-122"/>
                <a:cs typeface="Cambria" pitchFamily="34" charset="-120"/>
              </a:rPr>
              <a:t>Value Iteration</a:t>
            </a:r>
            <a:endParaRPr lang="en-US" sz="1800" dirty="0"/>
          </a:p>
        </p:txBody>
      </p:sp>
      <p:sp>
        <p:nvSpPr>
          <p:cNvPr id="13" name="Text 11"/>
          <p:cNvSpPr/>
          <p:nvPr/>
        </p:nvSpPr>
        <p:spPr>
          <a:xfrm>
            <a:off x="822960" y="4526280"/>
            <a:ext cx="5029200" cy="1508760"/>
          </a:xfrm>
          <a:prstGeom prst="rect">
            <a:avLst/>
          </a:prstGeom>
          <a:noFill/>
          <a:ln/>
        </p:spPr>
        <p:txBody>
          <a:bodyPr wrap="square" rtlCol="0" anchor="ctr"/>
          <a:lstStyle/>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Single Bellman optimality backup per sweep.</a:t>
            </a:r>
            <a:endParaRPr lang="en-US" sz="1300" dirty="0"/>
          </a:p>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V(s) = maxₐ Σ P(s'|s,a)·[r + γV(s')]</a:t>
            </a:r>
            <a:endParaRPr lang="en-US" sz="1300" dirty="0"/>
          </a:p>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More iterations, each is cheap. Policy at the end.</a:t>
            </a:r>
            <a:endParaRPr lang="en-US" sz="1300" dirty="0"/>
          </a:p>
        </p:txBody>
      </p:sp>
      <p:sp>
        <p:nvSpPr>
          <p:cNvPr id="14" name="Shape 12"/>
          <p:cNvSpPr/>
          <p:nvPr/>
        </p:nvSpPr>
        <p:spPr>
          <a:xfrm>
            <a:off x="6309360" y="1828800"/>
            <a:ext cx="5303520" cy="4206240"/>
          </a:xfrm>
          <a:prstGeom prst="rect">
            <a:avLst/>
          </a:prstGeom>
          <a:solidFill>
            <a:srgbClr val="1E2761"/>
          </a:solidFill>
          <a:ln w="12700">
            <a:solidFill>
              <a:srgbClr val="1E2761"/>
            </a:solidFill>
            <a:prstDash val="solid"/>
          </a:ln>
        </p:spPr>
        <p:txBody>
          <a:bodyPr/>
          <a:lstStyle/>
          <a:p>
            <a:endParaRPr lang="en-KZ"/>
          </a:p>
        </p:txBody>
      </p:sp>
      <p:sp>
        <p:nvSpPr>
          <p:cNvPr id="15" name="Text 13"/>
          <p:cNvSpPr/>
          <p:nvPr/>
        </p:nvSpPr>
        <p:spPr>
          <a:xfrm>
            <a:off x="6492240" y="1965960"/>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Discount γ — Bias vs Horizon</a:t>
            </a:r>
            <a:endParaRPr lang="en-US" sz="1600" dirty="0"/>
          </a:p>
        </p:txBody>
      </p:sp>
      <p:sp>
        <p:nvSpPr>
          <p:cNvPr id="16" name="Text 14"/>
          <p:cNvSpPr/>
          <p:nvPr/>
        </p:nvSpPr>
        <p:spPr>
          <a:xfrm>
            <a:off x="6492240" y="2514600"/>
            <a:ext cx="1828800" cy="320040"/>
          </a:xfrm>
          <a:prstGeom prst="rect">
            <a:avLst/>
          </a:prstGeom>
          <a:noFill/>
          <a:ln/>
        </p:spPr>
        <p:txBody>
          <a:bodyPr wrap="square" lIns="0" tIns="0" rIns="0" bIns="0" rtlCol="0" anchor="ctr"/>
          <a:lstStyle/>
          <a:p>
            <a:pPr marL="0" indent="0">
              <a:buNone/>
            </a:pPr>
            <a:r>
              <a:rPr lang="en-US" sz="1800" b="1" dirty="0">
                <a:solidFill>
                  <a:srgbClr val="F96167"/>
                </a:solidFill>
                <a:latin typeface="Cambria" pitchFamily="34" charset="0"/>
                <a:ea typeface="Cambria" pitchFamily="34" charset="-122"/>
                <a:cs typeface="Cambria" pitchFamily="34" charset="-120"/>
              </a:rPr>
              <a:t>γ → 0</a:t>
            </a:r>
            <a:endParaRPr lang="en-US" sz="1800" dirty="0"/>
          </a:p>
        </p:txBody>
      </p:sp>
      <p:sp>
        <p:nvSpPr>
          <p:cNvPr id="17" name="Text 15"/>
          <p:cNvSpPr/>
          <p:nvPr/>
        </p:nvSpPr>
        <p:spPr>
          <a:xfrm>
            <a:off x="6492240" y="2834640"/>
            <a:ext cx="4937760" cy="7315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Myopic agent: only cares about immediate reward. Won't plan to the goal.</a:t>
            </a:r>
            <a:endParaRPr lang="en-US" sz="1200" dirty="0"/>
          </a:p>
        </p:txBody>
      </p:sp>
      <p:sp>
        <p:nvSpPr>
          <p:cNvPr id="18" name="Text 16"/>
          <p:cNvSpPr/>
          <p:nvPr/>
        </p:nvSpPr>
        <p:spPr>
          <a:xfrm>
            <a:off x="6492240" y="3657600"/>
            <a:ext cx="1828800" cy="320040"/>
          </a:xfrm>
          <a:prstGeom prst="rect">
            <a:avLst/>
          </a:prstGeom>
          <a:noFill/>
          <a:ln/>
        </p:spPr>
        <p:txBody>
          <a:bodyPr wrap="square" lIns="0" tIns="0" rIns="0" bIns="0" rtlCol="0" anchor="ctr"/>
          <a:lstStyle/>
          <a:p>
            <a:pPr marL="0" indent="0">
              <a:buNone/>
            </a:pPr>
            <a:r>
              <a:rPr lang="en-US" sz="1800" b="1" dirty="0">
                <a:solidFill>
                  <a:srgbClr val="F9B045"/>
                </a:solidFill>
                <a:latin typeface="Cambria" pitchFamily="34" charset="0"/>
                <a:ea typeface="Cambria" pitchFamily="34" charset="-122"/>
                <a:cs typeface="Cambria" pitchFamily="34" charset="-120"/>
              </a:rPr>
              <a:t>γ → 1</a:t>
            </a:r>
            <a:endParaRPr lang="en-US" sz="1800" dirty="0"/>
          </a:p>
        </p:txBody>
      </p:sp>
      <p:sp>
        <p:nvSpPr>
          <p:cNvPr id="19" name="Text 17"/>
          <p:cNvSpPr/>
          <p:nvPr/>
        </p:nvSpPr>
        <p:spPr>
          <a:xfrm>
            <a:off x="6492240" y="3977640"/>
            <a:ext cx="4937760" cy="91440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Far-sighted: plans long horizons optimally. Convergence slows; undiscounted episodic tasks still converge.</a:t>
            </a:r>
            <a:endParaRPr lang="en-US" sz="1200" dirty="0"/>
          </a:p>
        </p:txBody>
      </p:sp>
      <p:sp>
        <p:nvSpPr>
          <p:cNvPr id="20" name="Shape 18"/>
          <p:cNvSpPr/>
          <p:nvPr/>
        </p:nvSpPr>
        <p:spPr>
          <a:xfrm>
            <a:off x="6492240" y="5074920"/>
            <a:ext cx="4937760" cy="0"/>
          </a:xfrm>
          <a:prstGeom prst="line">
            <a:avLst/>
          </a:prstGeom>
          <a:noFill/>
          <a:ln w="12700">
            <a:solidFill>
              <a:srgbClr val="F96167"/>
            </a:solidFill>
            <a:prstDash val="solid"/>
          </a:ln>
        </p:spPr>
        <p:txBody>
          <a:bodyPr/>
          <a:lstStyle/>
          <a:p>
            <a:endParaRPr lang="en-KZ"/>
          </a:p>
        </p:txBody>
      </p:sp>
      <p:sp>
        <p:nvSpPr>
          <p:cNvPr id="21" name="Text 19"/>
          <p:cNvSpPr/>
          <p:nvPr/>
        </p:nvSpPr>
        <p:spPr>
          <a:xfrm>
            <a:off x="6492240" y="5212080"/>
            <a:ext cx="4937760" cy="73152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Environment: 4×12 grid, reward −1/step, cliff = −100 terminal, stochastic slip.</a:t>
            </a:r>
            <a:endParaRPr lang="en-US" sz="1100" dirty="0"/>
          </a:p>
        </p:txBody>
      </p:sp>
      <p:sp>
        <p:nvSpPr>
          <p:cNvPr id="22" name="Text 20"/>
          <p:cNvSpPr/>
          <p:nvPr/>
        </p:nvSpPr>
        <p:spPr>
          <a:xfrm>
            <a:off x="548640" y="6537960"/>
            <a:ext cx="1106424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HW4 · Exercise 1 · Policy Iteration &amp; Value Iteration</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41118"/>
    </mc:Choice>
    <mc:Fallback xmlns="">
      <p:transition spd="slow" advTm="4111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1 · SLIP CHANCE</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Effect of Stochasticity — Conservative Under Noise</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sp>
        <p:nvSpPr>
          <p:cNvPr id="6" name="Shape 4"/>
          <p:cNvSpPr/>
          <p:nvPr/>
        </p:nvSpPr>
        <p:spPr>
          <a:xfrm>
            <a:off x="251460" y="1600200"/>
            <a:ext cx="3794760" cy="411480"/>
          </a:xfrm>
          <a:prstGeom prst="rect">
            <a:avLst/>
          </a:prstGeom>
          <a:solidFill>
            <a:srgbClr val="1E2761"/>
          </a:solidFill>
          <a:ln w="12700">
            <a:solidFill>
              <a:srgbClr val="1E2761"/>
            </a:solidFill>
            <a:prstDash val="solid"/>
          </a:ln>
        </p:spPr>
        <p:txBody>
          <a:bodyPr/>
          <a:lstStyle/>
          <a:p>
            <a:endParaRPr lang="en-KZ"/>
          </a:p>
        </p:txBody>
      </p:sp>
      <p:sp>
        <p:nvSpPr>
          <p:cNvPr id="7" name="Text 5"/>
          <p:cNvSpPr/>
          <p:nvPr/>
        </p:nvSpPr>
        <p:spPr>
          <a:xfrm>
            <a:off x="251460" y="1645920"/>
            <a:ext cx="379476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slip = 0.0</a:t>
            </a:r>
            <a:endParaRPr lang="en-US" sz="1400" dirty="0"/>
          </a:p>
        </p:txBody>
      </p:sp>
      <p:sp>
        <p:nvSpPr>
          <p:cNvPr id="8" name="Shape 6"/>
          <p:cNvSpPr/>
          <p:nvPr/>
        </p:nvSpPr>
        <p:spPr>
          <a:xfrm>
            <a:off x="4183380" y="1600200"/>
            <a:ext cx="3794760" cy="411480"/>
          </a:xfrm>
          <a:prstGeom prst="rect">
            <a:avLst/>
          </a:prstGeom>
          <a:solidFill>
            <a:srgbClr val="2D3F7D"/>
          </a:solidFill>
          <a:ln w="12700">
            <a:solidFill>
              <a:srgbClr val="2D3F7D"/>
            </a:solidFill>
            <a:prstDash val="solid"/>
          </a:ln>
        </p:spPr>
        <p:txBody>
          <a:bodyPr/>
          <a:lstStyle/>
          <a:p>
            <a:endParaRPr lang="en-KZ"/>
          </a:p>
        </p:txBody>
      </p:sp>
      <p:sp>
        <p:nvSpPr>
          <p:cNvPr id="9" name="Text 7"/>
          <p:cNvSpPr/>
          <p:nvPr/>
        </p:nvSpPr>
        <p:spPr>
          <a:xfrm>
            <a:off x="4183380" y="1645920"/>
            <a:ext cx="379476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slip = 0.01</a:t>
            </a:r>
            <a:endParaRPr lang="en-US" sz="1400" dirty="0"/>
          </a:p>
        </p:txBody>
      </p:sp>
      <p:sp>
        <p:nvSpPr>
          <p:cNvPr id="10" name="Shape 8"/>
          <p:cNvSpPr/>
          <p:nvPr/>
        </p:nvSpPr>
        <p:spPr>
          <a:xfrm>
            <a:off x="8115300" y="1600200"/>
            <a:ext cx="3794760" cy="411480"/>
          </a:xfrm>
          <a:prstGeom prst="rect">
            <a:avLst/>
          </a:prstGeom>
          <a:solidFill>
            <a:srgbClr val="F96167"/>
          </a:solidFill>
          <a:ln w="12700">
            <a:solidFill>
              <a:srgbClr val="F96167"/>
            </a:solidFill>
            <a:prstDash val="solid"/>
          </a:ln>
        </p:spPr>
        <p:txBody>
          <a:bodyPr/>
          <a:lstStyle/>
          <a:p>
            <a:endParaRPr lang="en-KZ"/>
          </a:p>
        </p:txBody>
      </p:sp>
      <p:sp>
        <p:nvSpPr>
          <p:cNvPr id="11" name="Text 9"/>
          <p:cNvSpPr/>
          <p:nvPr/>
        </p:nvSpPr>
        <p:spPr>
          <a:xfrm>
            <a:off x="8115300" y="1645920"/>
            <a:ext cx="379476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slip = 0.2</a:t>
            </a:r>
            <a:endParaRPr lang="en-US" sz="1400" dirty="0"/>
          </a:p>
        </p:txBody>
      </p:sp>
      <p:sp>
        <p:nvSpPr>
          <p:cNvPr id="12" name="Shape 10"/>
          <p:cNvSpPr/>
          <p:nvPr/>
        </p:nvSpPr>
        <p:spPr>
          <a:xfrm>
            <a:off x="251460" y="2148840"/>
            <a:ext cx="3794760" cy="1828800"/>
          </a:xfrm>
          <a:prstGeom prst="rect">
            <a:avLst/>
          </a:prstGeom>
          <a:solidFill>
            <a:srgbClr val="FFFFFF"/>
          </a:solidFill>
          <a:ln w="12700">
            <a:solidFill>
              <a:srgbClr val="E2E8F0"/>
            </a:solidFill>
            <a:prstDash val="solid"/>
          </a:ln>
        </p:spPr>
        <p:txBody>
          <a:bodyPr/>
          <a:lstStyle/>
          <a:p>
            <a:endParaRPr lang="en-KZ"/>
          </a:p>
        </p:txBody>
      </p:sp>
      <p:pic>
        <p:nvPicPr>
          <p:cNvPr id="13" name="Image 0" descr="/Users/shyngys/ethz/robot_learning/ethz-course-2026/hw4_reinforcement_learning/logs/mdp/policy_iteration_values_slip_0.png"/>
          <p:cNvPicPr>
            <a:picLocks noChangeAspect="1"/>
          </p:cNvPicPr>
          <p:nvPr/>
        </p:nvPicPr>
        <p:blipFill>
          <a:blip r:embed="rId3"/>
          <a:srcRect/>
          <a:stretch/>
        </p:blipFill>
        <p:spPr>
          <a:xfrm>
            <a:off x="297180" y="2194560"/>
            <a:ext cx="3703320" cy="1737360"/>
          </a:xfrm>
          <a:prstGeom prst="rect">
            <a:avLst/>
          </a:prstGeom>
        </p:spPr>
      </p:pic>
      <p:sp>
        <p:nvSpPr>
          <p:cNvPr id="14" name="Shape 11"/>
          <p:cNvSpPr/>
          <p:nvPr/>
        </p:nvSpPr>
        <p:spPr>
          <a:xfrm>
            <a:off x="4183380" y="2148840"/>
            <a:ext cx="3794760" cy="1828800"/>
          </a:xfrm>
          <a:prstGeom prst="rect">
            <a:avLst/>
          </a:prstGeom>
          <a:solidFill>
            <a:srgbClr val="FFFFFF"/>
          </a:solidFill>
          <a:ln w="12700">
            <a:solidFill>
              <a:srgbClr val="E2E8F0"/>
            </a:solidFill>
            <a:prstDash val="solid"/>
          </a:ln>
        </p:spPr>
        <p:txBody>
          <a:bodyPr/>
          <a:lstStyle/>
          <a:p>
            <a:endParaRPr lang="en-KZ"/>
          </a:p>
        </p:txBody>
      </p:sp>
      <p:pic>
        <p:nvPicPr>
          <p:cNvPr id="15" name="Image 1" descr="/Users/shyngys/ethz/robot_learning/ethz-course-2026/hw4_reinforcement_learning/logs/mdp/policy_iteration_values_slip_0.01.png"/>
          <p:cNvPicPr>
            <a:picLocks noChangeAspect="1"/>
          </p:cNvPicPr>
          <p:nvPr/>
        </p:nvPicPr>
        <p:blipFill>
          <a:blip r:embed="rId4"/>
          <a:srcRect/>
          <a:stretch/>
        </p:blipFill>
        <p:spPr>
          <a:xfrm>
            <a:off x="4229100" y="2194560"/>
            <a:ext cx="3703320" cy="1737360"/>
          </a:xfrm>
          <a:prstGeom prst="rect">
            <a:avLst/>
          </a:prstGeom>
        </p:spPr>
      </p:pic>
      <p:sp>
        <p:nvSpPr>
          <p:cNvPr id="16" name="Shape 12"/>
          <p:cNvSpPr/>
          <p:nvPr/>
        </p:nvSpPr>
        <p:spPr>
          <a:xfrm>
            <a:off x="8115300" y="2148840"/>
            <a:ext cx="3794760" cy="1828800"/>
          </a:xfrm>
          <a:prstGeom prst="rect">
            <a:avLst/>
          </a:prstGeom>
          <a:solidFill>
            <a:srgbClr val="FFFFFF"/>
          </a:solidFill>
          <a:ln w="12700">
            <a:solidFill>
              <a:srgbClr val="E2E8F0"/>
            </a:solidFill>
            <a:prstDash val="solid"/>
          </a:ln>
        </p:spPr>
        <p:txBody>
          <a:bodyPr/>
          <a:lstStyle/>
          <a:p>
            <a:endParaRPr lang="en-KZ"/>
          </a:p>
        </p:txBody>
      </p:sp>
      <p:pic>
        <p:nvPicPr>
          <p:cNvPr id="17" name="Image 2" descr="/Users/shyngys/ethz/robot_learning/ethz-course-2026/hw4_reinforcement_learning/logs/mdp/policy_iteration_values_slip_0.2.png"/>
          <p:cNvPicPr>
            <a:picLocks noChangeAspect="1"/>
          </p:cNvPicPr>
          <p:nvPr/>
        </p:nvPicPr>
        <p:blipFill>
          <a:blip r:embed="rId5"/>
          <a:srcRect/>
          <a:stretch/>
        </p:blipFill>
        <p:spPr>
          <a:xfrm>
            <a:off x="8161020" y="2194560"/>
            <a:ext cx="3703320" cy="1737360"/>
          </a:xfrm>
          <a:prstGeom prst="rect">
            <a:avLst/>
          </a:prstGeom>
        </p:spPr>
      </p:pic>
      <p:sp>
        <p:nvSpPr>
          <p:cNvPr id="18" name="Shape 13"/>
          <p:cNvSpPr/>
          <p:nvPr/>
        </p:nvSpPr>
        <p:spPr>
          <a:xfrm>
            <a:off x="251460" y="4023360"/>
            <a:ext cx="3794760" cy="1828800"/>
          </a:xfrm>
          <a:prstGeom prst="rect">
            <a:avLst/>
          </a:prstGeom>
          <a:solidFill>
            <a:srgbClr val="FFFFFF"/>
          </a:solidFill>
          <a:ln w="12700">
            <a:solidFill>
              <a:srgbClr val="E2E8F0"/>
            </a:solidFill>
            <a:prstDash val="solid"/>
          </a:ln>
        </p:spPr>
        <p:txBody>
          <a:bodyPr/>
          <a:lstStyle/>
          <a:p>
            <a:endParaRPr lang="en-KZ"/>
          </a:p>
        </p:txBody>
      </p:sp>
      <p:pic>
        <p:nvPicPr>
          <p:cNvPr id="19" name="Image 3" descr="/Users/shyngys/ethz/robot_learning/ethz-course-2026/hw4_reinforcement_learning/logs/mdp/policy_iteration_policy_slip_0.png"/>
          <p:cNvPicPr>
            <a:picLocks noChangeAspect="1"/>
          </p:cNvPicPr>
          <p:nvPr/>
        </p:nvPicPr>
        <p:blipFill>
          <a:blip r:embed="rId6"/>
          <a:srcRect/>
          <a:stretch/>
        </p:blipFill>
        <p:spPr>
          <a:xfrm>
            <a:off x="297180" y="4069080"/>
            <a:ext cx="3703320" cy="1737360"/>
          </a:xfrm>
          <a:prstGeom prst="rect">
            <a:avLst/>
          </a:prstGeom>
        </p:spPr>
      </p:pic>
      <p:sp>
        <p:nvSpPr>
          <p:cNvPr id="20" name="Shape 14"/>
          <p:cNvSpPr/>
          <p:nvPr/>
        </p:nvSpPr>
        <p:spPr>
          <a:xfrm>
            <a:off x="4183380" y="4023360"/>
            <a:ext cx="3794760" cy="1828800"/>
          </a:xfrm>
          <a:prstGeom prst="rect">
            <a:avLst/>
          </a:prstGeom>
          <a:solidFill>
            <a:srgbClr val="FFFFFF"/>
          </a:solidFill>
          <a:ln w="12700">
            <a:solidFill>
              <a:srgbClr val="E2E8F0"/>
            </a:solidFill>
            <a:prstDash val="solid"/>
          </a:ln>
        </p:spPr>
        <p:txBody>
          <a:bodyPr/>
          <a:lstStyle/>
          <a:p>
            <a:endParaRPr lang="en-KZ"/>
          </a:p>
        </p:txBody>
      </p:sp>
      <p:pic>
        <p:nvPicPr>
          <p:cNvPr id="21" name="Image 4" descr="/Users/shyngys/ethz/robot_learning/ethz-course-2026/hw4_reinforcement_learning/logs/mdp/policy_iteration_policy_slip_0.01.png"/>
          <p:cNvPicPr>
            <a:picLocks noChangeAspect="1"/>
          </p:cNvPicPr>
          <p:nvPr/>
        </p:nvPicPr>
        <p:blipFill>
          <a:blip r:embed="rId7"/>
          <a:srcRect/>
          <a:stretch/>
        </p:blipFill>
        <p:spPr>
          <a:xfrm>
            <a:off x="4229100" y="4069080"/>
            <a:ext cx="3703320" cy="1737360"/>
          </a:xfrm>
          <a:prstGeom prst="rect">
            <a:avLst/>
          </a:prstGeom>
        </p:spPr>
      </p:pic>
      <p:sp>
        <p:nvSpPr>
          <p:cNvPr id="22" name="Shape 15"/>
          <p:cNvSpPr/>
          <p:nvPr/>
        </p:nvSpPr>
        <p:spPr>
          <a:xfrm>
            <a:off x="8115300" y="4023360"/>
            <a:ext cx="3794760" cy="1828800"/>
          </a:xfrm>
          <a:prstGeom prst="rect">
            <a:avLst/>
          </a:prstGeom>
          <a:solidFill>
            <a:srgbClr val="FFFFFF"/>
          </a:solidFill>
          <a:ln w="12700">
            <a:solidFill>
              <a:srgbClr val="E2E8F0"/>
            </a:solidFill>
            <a:prstDash val="solid"/>
          </a:ln>
        </p:spPr>
        <p:txBody>
          <a:bodyPr/>
          <a:lstStyle/>
          <a:p>
            <a:endParaRPr lang="en-KZ"/>
          </a:p>
        </p:txBody>
      </p:sp>
      <p:pic>
        <p:nvPicPr>
          <p:cNvPr id="23" name="Image 5" descr="/Users/shyngys/ethz/robot_learning/ethz-course-2026/hw4_reinforcement_learning/logs/mdp/policy_iteration_policy_slip_0.2.png"/>
          <p:cNvPicPr>
            <a:picLocks noChangeAspect="1"/>
          </p:cNvPicPr>
          <p:nvPr/>
        </p:nvPicPr>
        <p:blipFill>
          <a:blip r:embed="rId8"/>
          <a:srcRect/>
          <a:stretch/>
        </p:blipFill>
        <p:spPr>
          <a:xfrm>
            <a:off x="8161020" y="4069080"/>
            <a:ext cx="3703320" cy="1737360"/>
          </a:xfrm>
          <a:prstGeom prst="rect">
            <a:avLst/>
          </a:prstGeom>
        </p:spPr>
      </p:pic>
      <p:sp>
        <p:nvSpPr>
          <p:cNvPr id="24" name="Text 16"/>
          <p:cNvSpPr/>
          <p:nvPr/>
        </p:nvSpPr>
        <p:spPr>
          <a:xfrm>
            <a:off x="251460" y="5897880"/>
            <a:ext cx="3794760" cy="274320"/>
          </a:xfrm>
          <a:prstGeom prst="rect">
            <a:avLst/>
          </a:prstGeom>
          <a:noFill/>
          <a:ln/>
        </p:spPr>
        <p:txBody>
          <a:bodyPr wrap="square" lIns="0" tIns="0" rIns="0" bIns="0" rtlCol="0" anchor="ctr"/>
          <a:lstStyle/>
          <a:p>
            <a:pPr marL="0" indent="0" algn="ctr">
              <a:buNone/>
            </a:pPr>
            <a:r>
              <a:rPr lang="en-US" sz="1000" i="1" dirty="0">
                <a:solidFill>
                  <a:srgbClr val="1A1A2E"/>
                </a:solidFill>
                <a:latin typeface="Calibri" pitchFamily="34" charset="0"/>
                <a:ea typeface="Calibri" pitchFamily="34" charset="-122"/>
                <a:cs typeface="Calibri" pitchFamily="34" charset="-120"/>
              </a:rPr>
              <a:t>Shortest path along cliff edge.</a:t>
            </a:r>
            <a:endParaRPr lang="en-US" sz="1000" dirty="0"/>
          </a:p>
        </p:txBody>
      </p:sp>
      <p:sp>
        <p:nvSpPr>
          <p:cNvPr id="25" name="Text 17"/>
          <p:cNvSpPr/>
          <p:nvPr/>
        </p:nvSpPr>
        <p:spPr>
          <a:xfrm>
            <a:off x="4183380" y="5897880"/>
            <a:ext cx="3794760" cy="274320"/>
          </a:xfrm>
          <a:prstGeom prst="rect">
            <a:avLst/>
          </a:prstGeom>
          <a:noFill/>
          <a:ln/>
        </p:spPr>
        <p:txBody>
          <a:bodyPr wrap="square" lIns="0" tIns="0" rIns="0" bIns="0" rtlCol="0" anchor="ctr"/>
          <a:lstStyle/>
          <a:p>
            <a:pPr marL="0" indent="0" algn="ctr">
              <a:buNone/>
            </a:pPr>
            <a:r>
              <a:rPr lang="en-US" sz="1000" i="1" dirty="0">
                <a:solidFill>
                  <a:srgbClr val="1A1A2E"/>
                </a:solidFill>
                <a:latin typeface="Calibri" pitchFamily="34" charset="0"/>
                <a:ea typeface="Calibri" pitchFamily="34" charset="-122"/>
                <a:cs typeface="Calibri" pitchFamily="34" charset="-120"/>
              </a:rPr>
              <a:t>Tiny risk — policy barely shifts.</a:t>
            </a:r>
            <a:endParaRPr lang="en-US" sz="1000" dirty="0"/>
          </a:p>
        </p:txBody>
      </p:sp>
      <p:sp>
        <p:nvSpPr>
          <p:cNvPr id="26" name="Text 18"/>
          <p:cNvSpPr/>
          <p:nvPr/>
        </p:nvSpPr>
        <p:spPr>
          <a:xfrm>
            <a:off x="8115300" y="5897880"/>
            <a:ext cx="3794760" cy="274320"/>
          </a:xfrm>
          <a:prstGeom prst="rect">
            <a:avLst/>
          </a:prstGeom>
          <a:noFill/>
          <a:ln/>
        </p:spPr>
        <p:txBody>
          <a:bodyPr wrap="square" lIns="0" tIns="0" rIns="0" bIns="0" rtlCol="0" anchor="ctr"/>
          <a:lstStyle/>
          <a:p>
            <a:pPr marL="0" indent="0" algn="ctr">
              <a:buNone/>
            </a:pPr>
            <a:r>
              <a:rPr lang="en-US" sz="1000" i="1" dirty="0">
                <a:solidFill>
                  <a:srgbClr val="1A1A2E"/>
                </a:solidFill>
                <a:latin typeface="Calibri" pitchFamily="34" charset="0"/>
                <a:ea typeface="Calibri" pitchFamily="34" charset="-122"/>
                <a:cs typeface="Calibri" pitchFamily="34" charset="-120"/>
              </a:rPr>
              <a:t>Detours via the top row — safer.</a:t>
            </a:r>
            <a:endParaRPr lang="en-US" sz="1000" dirty="0"/>
          </a:p>
        </p:txBody>
      </p:sp>
      <p:sp>
        <p:nvSpPr>
          <p:cNvPr id="27" name="Shape 19"/>
          <p:cNvSpPr/>
          <p:nvPr/>
        </p:nvSpPr>
        <p:spPr>
          <a:xfrm>
            <a:off x="548640" y="6263640"/>
            <a:ext cx="11064240" cy="365760"/>
          </a:xfrm>
          <a:prstGeom prst="rect">
            <a:avLst/>
          </a:prstGeom>
          <a:solidFill>
            <a:srgbClr val="1E2761"/>
          </a:solidFill>
          <a:ln w="12700">
            <a:solidFill>
              <a:srgbClr val="1E2761"/>
            </a:solidFill>
            <a:prstDash val="solid"/>
          </a:ln>
        </p:spPr>
        <p:txBody>
          <a:bodyPr/>
          <a:lstStyle/>
          <a:p>
            <a:endParaRPr lang="en-KZ"/>
          </a:p>
        </p:txBody>
      </p:sp>
      <p:sp>
        <p:nvSpPr>
          <p:cNvPr id="28" name="Text 20"/>
          <p:cNvSpPr/>
          <p:nvPr/>
        </p:nvSpPr>
        <p:spPr>
          <a:xfrm>
            <a:off x="731520" y="6291072"/>
            <a:ext cx="10698480" cy="3200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Expected cliff penalty ≈ slip · ¼ · (−100) per adjacent step.   At 0.2 → ~−5/step → long safe path wins.</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000" advTm="20933"/>
    </mc:Choice>
    <mc:Fallback xmlns="">
      <p:transition spd="slow" advTm="2093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2 · DEEP Q-NETWORK</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DQN on CartPole — 100% Success Rate</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sp>
        <p:nvSpPr>
          <p:cNvPr id="6" name="Shape 4"/>
          <p:cNvSpPr/>
          <p:nvPr/>
        </p:nvSpPr>
        <p:spPr>
          <a:xfrm>
            <a:off x="548640" y="1828800"/>
            <a:ext cx="6858000" cy="438912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7" name="Text 5"/>
          <p:cNvSpPr/>
          <p:nvPr/>
        </p:nvSpPr>
        <p:spPr>
          <a:xfrm>
            <a:off x="731520" y="1920240"/>
            <a:ext cx="640080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Training Curve</a:t>
            </a:r>
            <a:endParaRPr lang="en-US" sz="1400" dirty="0"/>
          </a:p>
        </p:txBody>
      </p:sp>
      <p:pic>
        <p:nvPicPr>
          <p:cNvPr id="8" name="Image 0" descr="/Users/shyngys/ethz/robot_learning/ethz-course-2026/hw4_reinforcement_learning/logs/dqn/results/dqn_training_curve.png"/>
          <p:cNvPicPr>
            <a:picLocks noChangeAspect="1"/>
          </p:cNvPicPr>
          <p:nvPr/>
        </p:nvPicPr>
        <p:blipFill>
          <a:blip r:embed="rId3"/>
          <a:srcRect/>
          <a:stretch/>
        </p:blipFill>
        <p:spPr>
          <a:xfrm>
            <a:off x="640080" y="2286000"/>
            <a:ext cx="6675120" cy="3840480"/>
          </a:xfrm>
          <a:prstGeom prst="rect">
            <a:avLst/>
          </a:prstGeom>
        </p:spPr>
      </p:pic>
      <p:sp>
        <p:nvSpPr>
          <p:cNvPr id="9" name="Shape 6"/>
          <p:cNvSpPr/>
          <p:nvPr/>
        </p:nvSpPr>
        <p:spPr>
          <a:xfrm>
            <a:off x="7589520" y="1828800"/>
            <a:ext cx="4023360" cy="2103120"/>
          </a:xfrm>
          <a:prstGeom prst="rect">
            <a:avLst/>
          </a:prstGeom>
          <a:solidFill>
            <a:srgbClr val="1E2761"/>
          </a:solidFill>
          <a:ln w="12700">
            <a:solidFill>
              <a:srgbClr val="1E2761"/>
            </a:solidFill>
            <a:prstDash val="solid"/>
          </a:ln>
        </p:spPr>
        <p:txBody>
          <a:bodyPr/>
          <a:lstStyle/>
          <a:p>
            <a:endParaRPr lang="en-KZ"/>
          </a:p>
        </p:txBody>
      </p:sp>
      <p:sp>
        <p:nvSpPr>
          <p:cNvPr id="10" name="Text 7"/>
          <p:cNvSpPr/>
          <p:nvPr/>
        </p:nvSpPr>
        <p:spPr>
          <a:xfrm>
            <a:off x="7772400" y="1920240"/>
            <a:ext cx="3657600" cy="320040"/>
          </a:xfrm>
          <a:prstGeom prst="rect">
            <a:avLst/>
          </a:prstGeom>
          <a:noFill/>
          <a:ln/>
        </p:spPr>
        <p:txBody>
          <a:bodyPr wrap="square" lIns="0" tIns="0" rIns="0" bIns="0" rtlCol="0" anchor="ctr"/>
          <a:lstStyle/>
          <a:p>
            <a:pPr marL="0" indent="0">
              <a:buNone/>
            </a:pPr>
            <a:r>
              <a:rPr lang="en-US" sz="1400" b="1" dirty="0">
                <a:solidFill>
                  <a:srgbClr val="CADCFC"/>
                </a:solidFill>
                <a:latin typeface="Cambria" pitchFamily="34" charset="0"/>
                <a:ea typeface="Cambria" pitchFamily="34" charset="-122"/>
                <a:cs typeface="Cambria" pitchFamily="34" charset="-120"/>
              </a:rPr>
              <a:t>Evaluation (50 eps)</a:t>
            </a:r>
            <a:endParaRPr lang="en-US" sz="1400" dirty="0"/>
          </a:p>
        </p:txBody>
      </p:sp>
      <p:sp>
        <p:nvSpPr>
          <p:cNvPr id="11" name="Text 8"/>
          <p:cNvSpPr/>
          <p:nvPr/>
        </p:nvSpPr>
        <p:spPr>
          <a:xfrm>
            <a:off x="7772400" y="2286000"/>
            <a:ext cx="3657600" cy="91440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500.00</a:t>
            </a:r>
            <a:endParaRPr lang="en-US" sz="5600" dirty="0"/>
          </a:p>
        </p:txBody>
      </p:sp>
      <p:sp>
        <p:nvSpPr>
          <p:cNvPr id="12" name="Text 9"/>
          <p:cNvSpPr/>
          <p:nvPr/>
        </p:nvSpPr>
        <p:spPr>
          <a:xfrm>
            <a:off x="7772400" y="3291840"/>
            <a:ext cx="3657600" cy="36576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mean return  ·  std = 0  ·  100% success</a:t>
            </a:r>
            <a:endParaRPr lang="en-US" sz="1100" dirty="0"/>
          </a:p>
        </p:txBody>
      </p:sp>
      <p:sp>
        <p:nvSpPr>
          <p:cNvPr id="13" name="Shape 10"/>
          <p:cNvSpPr/>
          <p:nvPr/>
        </p:nvSpPr>
        <p:spPr>
          <a:xfrm>
            <a:off x="7589520" y="4114800"/>
            <a:ext cx="4023360" cy="2103120"/>
          </a:xfrm>
          <a:prstGeom prst="rect">
            <a:avLst/>
          </a:prstGeom>
          <a:solidFill>
            <a:srgbClr val="FFFFFF"/>
          </a:solidFill>
          <a:ln w="12700">
            <a:solidFill>
              <a:srgbClr val="E2E8F0"/>
            </a:solidFill>
            <a:prstDash val="solid"/>
          </a:ln>
        </p:spPr>
        <p:txBody>
          <a:bodyPr/>
          <a:lstStyle/>
          <a:p>
            <a:endParaRPr lang="en-KZ"/>
          </a:p>
        </p:txBody>
      </p:sp>
      <p:sp>
        <p:nvSpPr>
          <p:cNvPr id="14" name="Shape 11"/>
          <p:cNvSpPr/>
          <p:nvPr/>
        </p:nvSpPr>
        <p:spPr>
          <a:xfrm>
            <a:off x="7589520" y="4114800"/>
            <a:ext cx="73152" cy="2103120"/>
          </a:xfrm>
          <a:prstGeom prst="rect">
            <a:avLst/>
          </a:prstGeom>
          <a:solidFill>
            <a:srgbClr val="F96167"/>
          </a:solidFill>
          <a:ln w="12700">
            <a:solidFill>
              <a:srgbClr val="F96167"/>
            </a:solidFill>
            <a:prstDash val="solid"/>
          </a:ln>
        </p:spPr>
        <p:txBody>
          <a:bodyPr/>
          <a:lstStyle/>
          <a:p>
            <a:endParaRPr lang="en-KZ"/>
          </a:p>
        </p:txBody>
      </p:sp>
      <p:sp>
        <p:nvSpPr>
          <p:cNvPr id="15" name="Text 12"/>
          <p:cNvSpPr/>
          <p:nvPr/>
        </p:nvSpPr>
        <p:spPr>
          <a:xfrm>
            <a:off x="7772400" y="4206240"/>
            <a:ext cx="3657600" cy="320040"/>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Hyperparameters</a:t>
            </a:r>
            <a:endParaRPr lang="en-US" sz="1300" dirty="0"/>
          </a:p>
        </p:txBody>
      </p:sp>
      <p:sp>
        <p:nvSpPr>
          <p:cNvPr id="16" name="Text 13"/>
          <p:cNvSpPr/>
          <p:nvPr/>
        </p:nvSpPr>
        <p:spPr>
          <a:xfrm>
            <a:off x="7772400" y="4526280"/>
            <a:ext cx="3657600" cy="1645920"/>
          </a:xfrm>
          <a:prstGeom prst="rect">
            <a:avLst/>
          </a:prstGeom>
          <a:noFill/>
          <a:ln/>
        </p:spPr>
        <p:txBody>
          <a:bodyPr wrap="square" rtlCol="0" anchor="ctr"/>
          <a:lstStyle/>
          <a:p>
            <a:pPr marL="0" indent="0">
              <a:spcAft>
                <a:spcPts val="300"/>
              </a:spcAft>
              <a:buNone/>
            </a:pPr>
            <a:r>
              <a:rPr lang="en-US" sz="1200" dirty="0">
                <a:solidFill>
                  <a:srgbClr val="1A1A2E"/>
                </a:solidFill>
                <a:latin typeface="Consolas" pitchFamily="34" charset="0"/>
                <a:ea typeface="Consolas" pitchFamily="34" charset="-122"/>
                <a:cs typeface="Consolas" pitchFamily="34" charset="-120"/>
              </a:rPr>
              <a:t>lr = 1e−3</a:t>
            </a:r>
            <a:endParaRPr lang="en-US" sz="1200" dirty="0"/>
          </a:p>
          <a:p>
            <a:pPr marL="0" indent="0">
              <a:spcAft>
                <a:spcPts val="300"/>
              </a:spcAft>
              <a:buNone/>
            </a:pPr>
            <a:r>
              <a:rPr lang="en-US" sz="1200" dirty="0">
                <a:solidFill>
                  <a:srgbClr val="1A1A2E"/>
                </a:solidFill>
                <a:latin typeface="Consolas" pitchFamily="34" charset="0"/>
                <a:ea typeface="Consolas" pitchFamily="34" charset="-122"/>
                <a:cs typeface="Consolas" pitchFamily="34" charset="-120"/>
              </a:rPr>
              <a:t>ε = 0.03</a:t>
            </a:r>
            <a:endParaRPr lang="en-US" sz="1200" dirty="0"/>
          </a:p>
          <a:p>
            <a:pPr marL="0" indent="0">
              <a:spcAft>
                <a:spcPts val="300"/>
              </a:spcAft>
              <a:buNone/>
            </a:pPr>
            <a:r>
              <a:rPr lang="en-US" sz="1200" dirty="0">
                <a:solidFill>
                  <a:srgbClr val="1A1A2E"/>
                </a:solidFill>
                <a:latin typeface="Consolas" pitchFamily="34" charset="0"/>
                <a:ea typeface="Consolas" pitchFamily="34" charset="-122"/>
                <a:cs typeface="Consolas" pitchFamily="34" charset="-120"/>
              </a:rPr>
              <a:t>target_update = 10</a:t>
            </a:r>
            <a:endParaRPr lang="en-US" sz="1200" dirty="0"/>
          </a:p>
          <a:p>
            <a:pPr marL="0" indent="0">
              <a:spcAft>
                <a:spcPts val="300"/>
              </a:spcAft>
              <a:buNone/>
            </a:pPr>
            <a:r>
              <a:rPr lang="en-US" sz="1200" dirty="0">
                <a:solidFill>
                  <a:srgbClr val="1A1A2E"/>
                </a:solidFill>
                <a:latin typeface="Consolas" pitchFamily="34" charset="0"/>
                <a:ea typeface="Consolas" pitchFamily="34" charset="-122"/>
                <a:cs typeface="Consolas" pitchFamily="34" charset="-120"/>
              </a:rPr>
              <a:t>hidden_dim = 128</a:t>
            </a:r>
            <a:endParaRPr lang="en-US" sz="1200" dirty="0"/>
          </a:p>
          <a:p>
            <a:pPr marL="0" indent="0">
              <a:spcAft>
                <a:spcPts val="300"/>
              </a:spcAft>
              <a:buNone/>
            </a:pPr>
            <a:r>
              <a:rPr lang="en-US" sz="1200" dirty="0">
                <a:solidFill>
                  <a:srgbClr val="1A1A2E"/>
                </a:solidFill>
                <a:latin typeface="Consolas" pitchFamily="34" charset="0"/>
                <a:ea typeface="Consolas" pitchFamily="34" charset="-122"/>
                <a:cs typeface="Consolas" pitchFamily="34" charset="-120"/>
              </a:rPr>
              <a:t>γ = 0.99  ·  batch = 64</a:t>
            </a:r>
            <a:endParaRPr lang="en-US" sz="1200" dirty="0"/>
          </a:p>
        </p:txBody>
      </p:sp>
      <p:sp>
        <p:nvSpPr>
          <p:cNvPr id="17" name="Text 14"/>
          <p:cNvSpPr/>
          <p:nvPr/>
        </p:nvSpPr>
        <p:spPr>
          <a:xfrm>
            <a:off x="548640" y="6537960"/>
            <a:ext cx="1106424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HW4 · Exercise 2 · DQN on CartPole-v1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2 · THEORY</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Why Replay, Target Networks, and Double DQN?</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sp>
        <p:nvSpPr>
          <p:cNvPr id="6" name="Shape 4"/>
          <p:cNvSpPr/>
          <p:nvPr/>
        </p:nvSpPr>
        <p:spPr>
          <a:xfrm>
            <a:off x="365760" y="1920240"/>
            <a:ext cx="3657600" cy="420624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7" name="Shape 5"/>
          <p:cNvSpPr/>
          <p:nvPr/>
        </p:nvSpPr>
        <p:spPr>
          <a:xfrm>
            <a:off x="365760" y="1920240"/>
            <a:ext cx="3657600" cy="640080"/>
          </a:xfrm>
          <a:prstGeom prst="rect">
            <a:avLst/>
          </a:prstGeom>
          <a:solidFill>
            <a:srgbClr val="1E2761"/>
          </a:solidFill>
          <a:ln w="12700">
            <a:solidFill>
              <a:srgbClr val="1E2761"/>
            </a:solidFill>
            <a:prstDash val="solid"/>
          </a:ln>
        </p:spPr>
        <p:txBody>
          <a:bodyPr/>
          <a:lstStyle/>
          <a:p>
            <a:endParaRPr lang="en-KZ"/>
          </a:p>
        </p:txBody>
      </p:sp>
      <p:sp>
        <p:nvSpPr>
          <p:cNvPr id="8" name="Text 6"/>
          <p:cNvSpPr/>
          <p:nvPr/>
        </p:nvSpPr>
        <p:spPr>
          <a:xfrm>
            <a:off x="548640" y="2011680"/>
            <a:ext cx="914400" cy="457200"/>
          </a:xfrm>
          <a:prstGeom prst="rect">
            <a:avLst/>
          </a:prstGeom>
          <a:noFill/>
          <a:ln/>
        </p:spPr>
        <p:txBody>
          <a:bodyPr wrap="square" lIns="0" tIns="0" rIns="0" bIns="0" rtlCol="0" anchor="ctr"/>
          <a:lstStyle/>
          <a:p>
            <a:pPr marL="0" indent="0">
              <a:buNone/>
            </a:pPr>
            <a:r>
              <a:rPr lang="en-US" sz="2400" b="1" i="1" dirty="0">
                <a:solidFill>
                  <a:srgbClr val="FFFFFF"/>
                </a:solidFill>
                <a:latin typeface="Cambria" pitchFamily="34" charset="0"/>
                <a:ea typeface="Cambria" pitchFamily="34" charset="-122"/>
                <a:cs typeface="Cambria" pitchFamily="34" charset="-120"/>
              </a:rPr>
              <a:t>01</a:t>
            </a:r>
            <a:endParaRPr lang="en-US" sz="2400" dirty="0"/>
          </a:p>
        </p:txBody>
      </p:sp>
      <p:sp>
        <p:nvSpPr>
          <p:cNvPr id="9" name="Text 7"/>
          <p:cNvSpPr/>
          <p:nvPr/>
        </p:nvSpPr>
        <p:spPr>
          <a:xfrm>
            <a:off x="1280160" y="2057400"/>
            <a:ext cx="2560320" cy="365760"/>
          </a:xfrm>
          <a:prstGeom prst="rect">
            <a:avLst/>
          </a:prstGeom>
          <a:noFill/>
          <a:ln/>
        </p:spPr>
        <p:txBody>
          <a:bodyPr wrap="square" lIns="0" tIns="0" rIns="0" bIns="0" rtlCol="0" anchor="ctr"/>
          <a:lstStyle/>
          <a:p>
            <a:pPr marL="0" indent="0" algn="r">
              <a:buNone/>
            </a:pPr>
            <a:r>
              <a:rPr lang="en-US" sz="1600" b="1" dirty="0">
                <a:solidFill>
                  <a:srgbClr val="FFFFFF"/>
                </a:solidFill>
                <a:latin typeface="Cambria" pitchFamily="34" charset="0"/>
                <a:ea typeface="Cambria" pitchFamily="34" charset="-122"/>
                <a:cs typeface="Cambria" pitchFamily="34" charset="-120"/>
              </a:rPr>
              <a:t>Experience Replay</a:t>
            </a:r>
            <a:endParaRPr lang="en-US" sz="1600" dirty="0"/>
          </a:p>
        </p:txBody>
      </p:sp>
      <p:sp>
        <p:nvSpPr>
          <p:cNvPr id="10" name="Text 8"/>
          <p:cNvSpPr/>
          <p:nvPr/>
        </p:nvSpPr>
        <p:spPr>
          <a:xfrm>
            <a:off x="594360" y="2697480"/>
            <a:ext cx="3200400" cy="3108960"/>
          </a:xfrm>
          <a:prstGeom prst="rect">
            <a:avLst/>
          </a:prstGeom>
          <a:noFill/>
          <a:ln/>
        </p:spPr>
        <p:txBody>
          <a:bodyPr wrap="square" lIns="0" tIns="0" rIns="0" bIns="0" rtlCol="0" anchor="t"/>
          <a:lstStyle/>
          <a:p>
            <a:pPr marL="0" indent="0">
              <a:spcAft>
                <a:spcPts val="400"/>
              </a:spcAft>
              <a:buNone/>
            </a:pPr>
            <a:r>
              <a:rPr lang="en-US" sz="1300" dirty="0">
                <a:solidFill>
                  <a:srgbClr val="1A1A2E"/>
                </a:solidFill>
                <a:latin typeface="Calibri" pitchFamily="34" charset="0"/>
                <a:ea typeface="Calibri" pitchFamily="34" charset="-122"/>
                <a:cs typeface="Calibri" pitchFamily="34" charset="-120"/>
              </a:rPr>
              <a:t>Consecutive transitions are correlated → violates i.i.d. Random mini-batches from the buffer break correlation, recycle data, and smooth the training distribution.</a:t>
            </a:r>
            <a:endParaRPr lang="en-US" sz="1300" dirty="0"/>
          </a:p>
        </p:txBody>
      </p:sp>
      <p:sp>
        <p:nvSpPr>
          <p:cNvPr id="11" name="Shape 9"/>
          <p:cNvSpPr/>
          <p:nvPr/>
        </p:nvSpPr>
        <p:spPr>
          <a:xfrm>
            <a:off x="4251960" y="1920240"/>
            <a:ext cx="3657600" cy="420624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12" name="Shape 10"/>
          <p:cNvSpPr/>
          <p:nvPr/>
        </p:nvSpPr>
        <p:spPr>
          <a:xfrm>
            <a:off x="4251960" y="1920240"/>
            <a:ext cx="3657600" cy="640080"/>
          </a:xfrm>
          <a:prstGeom prst="rect">
            <a:avLst/>
          </a:prstGeom>
          <a:solidFill>
            <a:srgbClr val="F96167"/>
          </a:solidFill>
          <a:ln w="12700">
            <a:solidFill>
              <a:srgbClr val="F96167"/>
            </a:solidFill>
            <a:prstDash val="solid"/>
          </a:ln>
        </p:spPr>
        <p:txBody>
          <a:bodyPr/>
          <a:lstStyle/>
          <a:p>
            <a:endParaRPr lang="en-KZ"/>
          </a:p>
        </p:txBody>
      </p:sp>
      <p:sp>
        <p:nvSpPr>
          <p:cNvPr id="13" name="Text 11"/>
          <p:cNvSpPr/>
          <p:nvPr/>
        </p:nvSpPr>
        <p:spPr>
          <a:xfrm>
            <a:off x="4434840" y="2011680"/>
            <a:ext cx="914400" cy="457200"/>
          </a:xfrm>
          <a:prstGeom prst="rect">
            <a:avLst/>
          </a:prstGeom>
          <a:noFill/>
          <a:ln/>
        </p:spPr>
        <p:txBody>
          <a:bodyPr wrap="square" lIns="0" tIns="0" rIns="0" bIns="0" rtlCol="0" anchor="ctr"/>
          <a:lstStyle/>
          <a:p>
            <a:pPr marL="0" indent="0">
              <a:buNone/>
            </a:pPr>
            <a:r>
              <a:rPr lang="en-US" sz="2400" b="1" i="1" dirty="0">
                <a:solidFill>
                  <a:srgbClr val="FFFFFF"/>
                </a:solidFill>
                <a:latin typeface="Cambria" pitchFamily="34" charset="0"/>
                <a:ea typeface="Cambria" pitchFamily="34" charset="-122"/>
                <a:cs typeface="Cambria" pitchFamily="34" charset="-120"/>
              </a:rPr>
              <a:t>02</a:t>
            </a:r>
            <a:endParaRPr lang="en-US" sz="2400" dirty="0"/>
          </a:p>
        </p:txBody>
      </p:sp>
      <p:sp>
        <p:nvSpPr>
          <p:cNvPr id="14" name="Text 12"/>
          <p:cNvSpPr/>
          <p:nvPr/>
        </p:nvSpPr>
        <p:spPr>
          <a:xfrm>
            <a:off x="5166360" y="2057400"/>
            <a:ext cx="2560320" cy="365760"/>
          </a:xfrm>
          <a:prstGeom prst="rect">
            <a:avLst/>
          </a:prstGeom>
          <a:noFill/>
          <a:ln/>
        </p:spPr>
        <p:txBody>
          <a:bodyPr wrap="square" lIns="0" tIns="0" rIns="0" bIns="0" rtlCol="0" anchor="ctr"/>
          <a:lstStyle/>
          <a:p>
            <a:pPr marL="0" indent="0" algn="r">
              <a:buNone/>
            </a:pPr>
            <a:r>
              <a:rPr lang="en-US" sz="1600" b="1" dirty="0">
                <a:solidFill>
                  <a:srgbClr val="FFFFFF"/>
                </a:solidFill>
                <a:latin typeface="Cambria" pitchFamily="34" charset="0"/>
                <a:ea typeface="Cambria" pitchFamily="34" charset="-122"/>
                <a:cs typeface="Cambria" pitchFamily="34" charset="-120"/>
              </a:rPr>
              <a:t>Target Network</a:t>
            </a:r>
            <a:endParaRPr lang="en-US" sz="1600" dirty="0"/>
          </a:p>
        </p:txBody>
      </p:sp>
      <p:sp>
        <p:nvSpPr>
          <p:cNvPr id="15" name="Text 13"/>
          <p:cNvSpPr/>
          <p:nvPr/>
        </p:nvSpPr>
        <p:spPr>
          <a:xfrm>
            <a:off x="4480560" y="2697480"/>
            <a:ext cx="3200400" cy="3108960"/>
          </a:xfrm>
          <a:prstGeom prst="rect">
            <a:avLst/>
          </a:prstGeom>
          <a:noFill/>
          <a:ln/>
        </p:spPr>
        <p:txBody>
          <a:bodyPr wrap="square" lIns="0" tIns="0" rIns="0" bIns="0" rtlCol="0" anchor="t"/>
          <a:lstStyle/>
          <a:p>
            <a:pPr marL="0" indent="0">
              <a:spcAft>
                <a:spcPts val="400"/>
              </a:spcAft>
              <a:buNone/>
            </a:pPr>
            <a:r>
              <a:rPr lang="en-US" sz="1300" dirty="0">
                <a:solidFill>
                  <a:srgbClr val="1A1A2E"/>
                </a:solidFill>
                <a:latin typeface="Calibri" pitchFamily="34" charset="0"/>
                <a:ea typeface="Calibri" pitchFamily="34" charset="-122"/>
                <a:cs typeface="Calibri" pitchFamily="34" charset="-120"/>
              </a:rPr>
              <a:t>Shared θ makes y = r + γ·maxₐ'Q(s',a';θ) a moving target. A frozen θ⁻ (updated every N steps) gives the online net a stable objective to learn toward.</a:t>
            </a:r>
            <a:endParaRPr lang="en-US" sz="1300" dirty="0"/>
          </a:p>
        </p:txBody>
      </p:sp>
      <p:sp>
        <p:nvSpPr>
          <p:cNvPr id="16" name="Shape 14"/>
          <p:cNvSpPr/>
          <p:nvPr/>
        </p:nvSpPr>
        <p:spPr>
          <a:xfrm>
            <a:off x="8138160" y="1920240"/>
            <a:ext cx="3657600" cy="420624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17" name="Shape 15"/>
          <p:cNvSpPr/>
          <p:nvPr/>
        </p:nvSpPr>
        <p:spPr>
          <a:xfrm>
            <a:off x="8138160" y="1920240"/>
            <a:ext cx="3657600" cy="640080"/>
          </a:xfrm>
          <a:prstGeom prst="rect">
            <a:avLst/>
          </a:prstGeom>
          <a:solidFill>
            <a:srgbClr val="F9B045"/>
          </a:solidFill>
          <a:ln w="12700">
            <a:solidFill>
              <a:srgbClr val="F9B045"/>
            </a:solidFill>
            <a:prstDash val="solid"/>
          </a:ln>
        </p:spPr>
        <p:txBody>
          <a:bodyPr/>
          <a:lstStyle/>
          <a:p>
            <a:endParaRPr lang="en-KZ"/>
          </a:p>
        </p:txBody>
      </p:sp>
      <p:sp>
        <p:nvSpPr>
          <p:cNvPr id="18" name="Text 16"/>
          <p:cNvSpPr/>
          <p:nvPr/>
        </p:nvSpPr>
        <p:spPr>
          <a:xfrm>
            <a:off x="8321040" y="2011680"/>
            <a:ext cx="914400" cy="457200"/>
          </a:xfrm>
          <a:prstGeom prst="rect">
            <a:avLst/>
          </a:prstGeom>
          <a:noFill/>
          <a:ln/>
        </p:spPr>
        <p:txBody>
          <a:bodyPr wrap="square" lIns="0" tIns="0" rIns="0" bIns="0" rtlCol="0" anchor="ctr"/>
          <a:lstStyle/>
          <a:p>
            <a:pPr marL="0" indent="0">
              <a:buNone/>
            </a:pPr>
            <a:r>
              <a:rPr lang="en-US" sz="2400" b="1" i="1" dirty="0">
                <a:solidFill>
                  <a:srgbClr val="FFFFFF"/>
                </a:solidFill>
                <a:latin typeface="Cambria" pitchFamily="34" charset="0"/>
                <a:ea typeface="Cambria" pitchFamily="34" charset="-122"/>
                <a:cs typeface="Cambria" pitchFamily="34" charset="-120"/>
              </a:rPr>
              <a:t>03</a:t>
            </a:r>
            <a:endParaRPr lang="en-US" sz="2400" dirty="0"/>
          </a:p>
        </p:txBody>
      </p:sp>
      <p:sp>
        <p:nvSpPr>
          <p:cNvPr id="19" name="Text 17"/>
          <p:cNvSpPr/>
          <p:nvPr/>
        </p:nvSpPr>
        <p:spPr>
          <a:xfrm>
            <a:off x="9052560" y="2057400"/>
            <a:ext cx="2560320" cy="365760"/>
          </a:xfrm>
          <a:prstGeom prst="rect">
            <a:avLst/>
          </a:prstGeom>
          <a:noFill/>
          <a:ln/>
        </p:spPr>
        <p:txBody>
          <a:bodyPr wrap="square" lIns="0" tIns="0" rIns="0" bIns="0" rtlCol="0" anchor="ctr"/>
          <a:lstStyle/>
          <a:p>
            <a:pPr marL="0" indent="0" algn="r">
              <a:buNone/>
            </a:pPr>
            <a:r>
              <a:rPr lang="en-US" sz="1600" b="1" dirty="0">
                <a:solidFill>
                  <a:srgbClr val="FFFFFF"/>
                </a:solidFill>
                <a:latin typeface="Cambria" pitchFamily="34" charset="0"/>
                <a:ea typeface="Cambria" pitchFamily="34" charset="-122"/>
                <a:cs typeface="Cambria" pitchFamily="34" charset="-120"/>
              </a:rPr>
              <a:t>Double DQN</a:t>
            </a:r>
            <a:endParaRPr lang="en-US" sz="1600" dirty="0"/>
          </a:p>
        </p:txBody>
      </p:sp>
      <p:sp>
        <p:nvSpPr>
          <p:cNvPr id="20" name="Text 18"/>
          <p:cNvSpPr/>
          <p:nvPr/>
        </p:nvSpPr>
        <p:spPr>
          <a:xfrm>
            <a:off x="8366760" y="2697480"/>
            <a:ext cx="3200400" cy="3108960"/>
          </a:xfrm>
          <a:prstGeom prst="rect">
            <a:avLst/>
          </a:prstGeom>
          <a:noFill/>
          <a:ln/>
        </p:spPr>
        <p:txBody>
          <a:bodyPr wrap="square" lIns="0" tIns="0" rIns="0" bIns="0" rtlCol="0" anchor="t"/>
          <a:lstStyle/>
          <a:p>
            <a:pPr marL="0" indent="0">
              <a:spcAft>
                <a:spcPts val="400"/>
              </a:spcAft>
              <a:buNone/>
            </a:pPr>
            <a:r>
              <a:rPr lang="en-US" sz="1300" dirty="0">
                <a:solidFill>
                  <a:srgbClr val="1A1A2E"/>
                </a:solidFill>
                <a:latin typeface="Calibri" pitchFamily="34" charset="0"/>
                <a:ea typeface="Calibri" pitchFamily="34" charset="-122"/>
                <a:cs typeface="Calibri" pitchFamily="34" charset="-120"/>
              </a:rPr>
              <a:t>Standard max overestimates due to noise. Double DQN selects with online net, evaluates with target net → decorrelates selection &amp; evaluation noise.</a:t>
            </a:r>
            <a:endParaRPr lang="en-US" sz="1300" dirty="0"/>
          </a:p>
        </p:txBody>
      </p:sp>
      <p:sp>
        <p:nvSpPr>
          <p:cNvPr id="21" name="Shape 19"/>
          <p:cNvSpPr/>
          <p:nvPr/>
        </p:nvSpPr>
        <p:spPr>
          <a:xfrm>
            <a:off x="548640" y="6263640"/>
            <a:ext cx="11064240" cy="365760"/>
          </a:xfrm>
          <a:prstGeom prst="rect">
            <a:avLst/>
          </a:prstGeom>
          <a:solidFill>
            <a:srgbClr val="1E2761"/>
          </a:solidFill>
          <a:ln w="12700">
            <a:solidFill>
              <a:srgbClr val="1E2761"/>
            </a:solidFill>
            <a:prstDash val="solid"/>
          </a:ln>
        </p:spPr>
        <p:txBody>
          <a:bodyPr/>
          <a:lstStyle/>
          <a:p>
            <a:endParaRPr lang="en-KZ"/>
          </a:p>
        </p:txBody>
      </p:sp>
      <p:sp>
        <p:nvSpPr>
          <p:cNvPr id="22" name="Text 20"/>
          <p:cNvSpPr/>
          <p:nvPr/>
        </p:nvSpPr>
        <p:spPr>
          <a:xfrm>
            <a:off x="731520" y="6291072"/>
            <a:ext cx="10698480" cy="3200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All three fixes attack the same failure: function-approximation instability in bootstrapped TD learning.</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000" advTm="45028"/>
    </mc:Choice>
    <mc:Fallback xmlns="">
      <p:transition spd="slow" advTm="4502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3 · PPO</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PPO on SO100 — On-Policy Continuous Control</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sp>
        <p:nvSpPr>
          <p:cNvPr id="6" name="Shape 4"/>
          <p:cNvSpPr/>
          <p:nvPr/>
        </p:nvSpPr>
        <p:spPr>
          <a:xfrm>
            <a:off x="548640" y="1828800"/>
            <a:ext cx="6858000" cy="438912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7" name="Text 5"/>
          <p:cNvSpPr/>
          <p:nvPr/>
        </p:nvSpPr>
        <p:spPr>
          <a:xfrm>
            <a:off x="731520" y="1920240"/>
            <a:ext cx="640080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Eval Return (500 iterations)</a:t>
            </a:r>
            <a:endParaRPr lang="en-US" sz="1400" dirty="0"/>
          </a:p>
        </p:txBody>
      </p:sp>
      <p:pic>
        <p:nvPicPr>
          <p:cNvPr id="8" name="Image 0" descr="/Users/shyngys/ethz/robot_learning/ethz-course-2026/hw4_reinforcement_learning/logs/ppo/curves/eval_return.png"/>
          <p:cNvPicPr>
            <a:picLocks noChangeAspect="1"/>
          </p:cNvPicPr>
          <p:nvPr/>
        </p:nvPicPr>
        <p:blipFill>
          <a:blip r:embed="rId3"/>
          <a:srcRect/>
          <a:stretch/>
        </p:blipFill>
        <p:spPr>
          <a:xfrm>
            <a:off x="640080" y="2286000"/>
            <a:ext cx="6675120" cy="3840480"/>
          </a:xfrm>
          <a:prstGeom prst="rect">
            <a:avLst/>
          </a:prstGeom>
        </p:spPr>
      </p:pic>
      <p:sp>
        <p:nvSpPr>
          <p:cNvPr id="9" name="Shape 6"/>
          <p:cNvSpPr/>
          <p:nvPr/>
        </p:nvSpPr>
        <p:spPr>
          <a:xfrm>
            <a:off x="7589520" y="1828800"/>
            <a:ext cx="4023360" cy="2011680"/>
          </a:xfrm>
          <a:prstGeom prst="rect">
            <a:avLst/>
          </a:prstGeom>
          <a:solidFill>
            <a:srgbClr val="1E2761"/>
          </a:solidFill>
          <a:ln w="12700">
            <a:solidFill>
              <a:srgbClr val="1E2761"/>
            </a:solidFill>
            <a:prstDash val="solid"/>
          </a:ln>
        </p:spPr>
        <p:txBody>
          <a:bodyPr/>
          <a:lstStyle/>
          <a:p>
            <a:endParaRPr lang="en-KZ"/>
          </a:p>
        </p:txBody>
      </p:sp>
      <p:sp>
        <p:nvSpPr>
          <p:cNvPr id="10" name="Text 7"/>
          <p:cNvSpPr/>
          <p:nvPr/>
        </p:nvSpPr>
        <p:spPr>
          <a:xfrm>
            <a:off x="7772400" y="1920240"/>
            <a:ext cx="3657600" cy="320040"/>
          </a:xfrm>
          <a:prstGeom prst="rect">
            <a:avLst/>
          </a:prstGeom>
          <a:noFill/>
          <a:ln/>
        </p:spPr>
        <p:txBody>
          <a:bodyPr wrap="square" lIns="0" tIns="0" rIns="0" bIns="0" rtlCol="0" anchor="ctr"/>
          <a:lstStyle/>
          <a:p>
            <a:pPr marL="0" indent="0">
              <a:buNone/>
            </a:pPr>
            <a:r>
              <a:rPr lang="en-US" sz="1200" b="1" dirty="0">
                <a:solidFill>
                  <a:srgbClr val="CADCFC"/>
                </a:solidFill>
                <a:latin typeface="Cambria" pitchFamily="34" charset="0"/>
                <a:ea typeface="Cambria" pitchFamily="34" charset="-122"/>
                <a:cs typeface="Cambria" pitchFamily="34" charset="-120"/>
              </a:rPr>
              <a:t>Mean Return (20 eps)</a:t>
            </a:r>
            <a:endParaRPr lang="en-US" sz="1200" dirty="0"/>
          </a:p>
        </p:txBody>
      </p:sp>
      <p:sp>
        <p:nvSpPr>
          <p:cNvPr id="11" name="Text 8"/>
          <p:cNvSpPr/>
          <p:nvPr/>
        </p:nvSpPr>
        <p:spPr>
          <a:xfrm>
            <a:off x="7772400" y="2286000"/>
            <a:ext cx="3657600" cy="91440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54.7</a:t>
            </a:r>
            <a:endParaRPr lang="en-US" sz="6000" dirty="0"/>
          </a:p>
        </p:txBody>
      </p:sp>
      <p:sp>
        <p:nvSpPr>
          <p:cNvPr id="12" name="Text 9"/>
          <p:cNvSpPr/>
          <p:nvPr/>
        </p:nvSpPr>
        <p:spPr>
          <a:xfrm>
            <a:off x="7772400" y="3337560"/>
            <a:ext cx="3657600" cy="365760"/>
          </a:xfrm>
          <a:prstGeom prst="rect">
            <a:avLst/>
          </a:prstGeom>
          <a:noFill/>
          <a:ln/>
        </p:spPr>
        <p:txBody>
          <a:bodyPr wrap="square" lIns="0" tIns="0" rIns="0" bIns="0" rtlCol="0" anchor="ctr"/>
          <a:lstStyle/>
          <a:p>
            <a:pPr marL="0" indent="0">
              <a:buNone/>
            </a:pPr>
            <a:r>
              <a:rPr lang="en-US" sz="1100" b="1" dirty="0">
                <a:solidFill>
                  <a:srgbClr val="F9B045"/>
                </a:solidFill>
                <a:latin typeface="Calibri" pitchFamily="34" charset="0"/>
                <a:ea typeface="Calibri" pitchFamily="34" charset="-122"/>
                <a:cs typeface="Calibri" pitchFamily="34" charset="-120"/>
              </a:rPr>
              <a:t>tracking error = 0.018 m</a:t>
            </a:r>
            <a:endParaRPr lang="en-US" sz="1100" dirty="0"/>
          </a:p>
        </p:txBody>
      </p:sp>
      <p:sp>
        <p:nvSpPr>
          <p:cNvPr id="13" name="Shape 10"/>
          <p:cNvSpPr/>
          <p:nvPr/>
        </p:nvSpPr>
        <p:spPr>
          <a:xfrm>
            <a:off x="7589520" y="4023360"/>
            <a:ext cx="4023360" cy="2194560"/>
          </a:xfrm>
          <a:prstGeom prst="rect">
            <a:avLst/>
          </a:prstGeom>
          <a:solidFill>
            <a:srgbClr val="FFFFFF"/>
          </a:solidFill>
          <a:ln w="12700">
            <a:solidFill>
              <a:srgbClr val="E2E8F0"/>
            </a:solidFill>
            <a:prstDash val="solid"/>
          </a:ln>
        </p:spPr>
        <p:txBody>
          <a:bodyPr/>
          <a:lstStyle/>
          <a:p>
            <a:endParaRPr lang="en-KZ"/>
          </a:p>
        </p:txBody>
      </p:sp>
      <p:sp>
        <p:nvSpPr>
          <p:cNvPr id="14" name="Text 11"/>
          <p:cNvSpPr/>
          <p:nvPr/>
        </p:nvSpPr>
        <p:spPr>
          <a:xfrm>
            <a:off x="7772400" y="4114800"/>
            <a:ext cx="3657600" cy="274320"/>
          </a:xfrm>
          <a:prstGeom prst="rect">
            <a:avLst/>
          </a:prstGeom>
          <a:noFill/>
          <a:ln/>
        </p:spPr>
        <p:txBody>
          <a:bodyPr wrap="square" lIns="0" tIns="0" rIns="0" bIns="0" rtlCol="0" anchor="ctr"/>
          <a:lstStyle/>
          <a:p>
            <a:pPr marL="0" indent="0">
              <a:buNone/>
            </a:pPr>
            <a:r>
              <a:rPr lang="en-US" sz="1200" b="1" dirty="0">
                <a:solidFill>
                  <a:srgbClr val="F96167"/>
                </a:solidFill>
                <a:latin typeface="Cambria" pitchFamily="34" charset="0"/>
                <a:ea typeface="Cambria" pitchFamily="34" charset="-122"/>
                <a:cs typeface="Cambria" pitchFamily="34" charset="-120"/>
              </a:rPr>
              <a:t>Tracking Error</a:t>
            </a:r>
            <a:endParaRPr lang="en-US" sz="1200" dirty="0"/>
          </a:p>
        </p:txBody>
      </p:sp>
      <p:pic>
        <p:nvPicPr>
          <p:cNvPr id="15" name="Image 1" descr="/Users/shyngys/ethz/robot_learning/ethz-course-2026/hw4_reinforcement_learning/logs/ppo/curves/eval_ee_tracking_error.png"/>
          <p:cNvPicPr>
            <a:picLocks noChangeAspect="1"/>
          </p:cNvPicPr>
          <p:nvPr/>
        </p:nvPicPr>
        <p:blipFill>
          <a:blip r:embed="rId4"/>
          <a:srcRect/>
          <a:stretch/>
        </p:blipFill>
        <p:spPr>
          <a:xfrm>
            <a:off x="7635240" y="4434840"/>
            <a:ext cx="3931920" cy="1737360"/>
          </a:xfrm>
          <a:prstGeom prst="rect">
            <a:avLst/>
          </a:prstGeom>
        </p:spPr>
      </p:pic>
      <p:sp>
        <p:nvSpPr>
          <p:cNvPr id="16" name="Text 12"/>
          <p:cNvSpPr/>
          <p:nvPr/>
        </p:nvSpPr>
        <p:spPr>
          <a:xfrm>
            <a:off x="548640" y="6537960"/>
            <a:ext cx="1106424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HW4 · Exercise 3 · PPO (clipping, GAE, KL-adaptive LR)</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3800"/>
    </mc:Choice>
    <mc:Fallback xmlns="">
      <p:transition spd="slow" advTm="38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3 · THEORY</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Clipping, On-Policy Data, and GAE λ</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sp>
        <p:nvSpPr>
          <p:cNvPr id="6" name="Shape 4"/>
          <p:cNvSpPr/>
          <p:nvPr/>
        </p:nvSpPr>
        <p:spPr>
          <a:xfrm>
            <a:off x="548640" y="1828800"/>
            <a:ext cx="5394960" cy="210312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7" name="Shape 5"/>
          <p:cNvSpPr/>
          <p:nvPr/>
        </p:nvSpPr>
        <p:spPr>
          <a:xfrm>
            <a:off x="548640" y="1828800"/>
            <a:ext cx="73152" cy="2103120"/>
          </a:xfrm>
          <a:prstGeom prst="rect">
            <a:avLst/>
          </a:prstGeom>
          <a:solidFill>
            <a:srgbClr val="1E2761"/>
          </a:solidFill>
          <a:ln w="12700">
            <a:solidFill>
              <a:srgbClr val="1E2761"/>
            </a:solidFill>
            <a:prstDash val="solid"/>
          </a:ln>
        </p:spPr>
        <p:txBody>
          <a:bodyPr/>
          <a:lstStyle/>
          <a:p>
            <a:endParaRPr lang="en-KZ"/>
          </a:p>
        </p:txBody>
      </p:sp>
      <p:sp>
        <p:nvSpPr>
          <p:cNvPr id="8" name="Text 6"/>
          <p:cNvSpPr/>
          <p:nvPr/>
        </p:nvSpPr>
        <p:spPr>
          <a:xfrm>
            <a:off x="822960" y="1920240"/>
            <a:ext cx="502920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Why clip instead of KL constraint?</a:t>
            </a:r>
            <a:endParaRPr lang="en-US" sz="1600" dirty="0"/>
          </a:p>
        </p:txBody>
      </p:sp>
      <p:sp>
        <p:nvSpPr>
          <p:cNvPr id="9" name="Text 7"/>
          <p:cNvSpPr/>
          <p:nvPr/>
        </p:nvSpPr>
        <p:spPr>
          <a:xfrm>
            <a:off x="822960" y="2331720"/>
            <a:ext cx="5029200" cy="1554480"/>
          </a:xfrm>
          <a:prstGeom prst="rect">
            <a:avLst/>
          </a:prstGeom>
          <a:noFill/>
          <a:ln/>
        </p:spPr>
        <p:txBody>
          <a:bodyPr wrap="square" lIns="0" tIns="0" rIns="0" bIns="0" rtlCol="0" anchor="t"/>
          <a:lstStyle/>
          <a:p>
            <a:pPr marL="0" indent="0">
              <a:buNone/>
            </a:pPr>
            <a:r>
              <a:rPr lang="en-US" sz="1200" dirty="0">
                <a:solidFill>
                  <a:srgbClr val="1A1A2E"/>
                </a:solidFill>
                <a:latin typeface="Calibri" pitchFamily="34" charset="0"/>
                <a:ea typeface="Calibri" pitchFamily="34" charset="-122"/>
                <a:cs typeface="Calibri" pitchFamily="34" charset="-120"/>
              </a:rPr>
              <a:t>TRPO's hard KL constraint needs second-order (Fisher, CG, line-search). PPO's min-clip gives a soft trust region using only first-order Adam. Without clipping, a single huge ratio can destroy the policy.</a:t>
            </a:r>
            <a:endParaRPr lang="en-US" sz="1200" dirty="0"/>
          </a:p>
        </p:txBody>
      </p:sp>
      <p:sp>
        <p:nvSpPr>
          <p:cNvPr id="10" name="Shape 8"/>
          <p:cNvSpPr/>
          <p:nvPr/>
        </p:nvSpPr>
        <p:spPr>
          <a:xfrm>
            <a:off x="6217920" y="1828800"/>
            <a:ext cx="5394960" cy="210312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11" name="Shape 9"/>
          <p:cNvSpPr/>
          <p:nvPr/>
        </p:nvSpPr>
        <p:spPr>
          <a:xfrm>
            <a:off x="6217920" y="1828800"/>
            <a:ext cx="73152" cy="2103120"/>
          </a:xfrm>
          <a:prstGeom prst="rect">
            <a:avLst/>
          </a:prstGeom>
          <a:solidFill>
            <a:srgbClr val="F96167"/>
          </a:solidFill>
          <a:ln w="12700">
            <a:solidFill>
              <a:srgbClr val="F96167"/>
            </a:solidFill>
            <a:prstDash val="solid"/>
          </a:ln>
        </p:spPr>
        <p:txBody>
          <a:bodyPr/>
          <a:lstStyle/>
          <a:p>
            <a:endParaRPr lang="en-KZ"/>
          </a:p>
        </p:txBody>
      </p:sp>
      <p:sp>
        <p:nvSpPr>
          <p:cNvPr id="12" name="Text 10"/>
          <p:cNvSpPr/>
          <p:nvPr/>
        </p:nvSpPr>
        <p:spPr>
          <a:xfrm>
            <a:off x="6492240" y="1920240"/>
            <a:ext cx="5029200" cy="365760"/>
          </a:xfrm>
          <a:prstGeom prst="rect">
            <a:avLst/>
          </a:prstGeom>
          <a:noFill/>
          <a:ln/>
        </p:spPr>
        <p:txBody>
          <a:bodyPr wrap="square" lIns="0" tIns="0" rIns="0" bIns="0" rtlCol="0" anchor="ctr"/>
          <a:lstStyle/>
          <a:p>
            <a:pPr marL="0" indent="0">
              <a:buNone/>
            </a:pPr>
            <a:r>
              <a:rPr lang="en-US" sz="1600" b="1" dirty="0">
                <a:solidFill>
                  <a:srgbClr val="F96167"/>
                </a:solidFill>
                <a:latin typeface="Cambria" pitchFamily="34" charset="0"/>
                <a:ea typeface="Cambria" pitchFamily="34" charset="-122"/>
                <a:cs typeface="Cambria" pitchFamily="34" charset="-120"/>
              </a:rPr>
              <a:t>Why discard data after each update?</a:t>
            </a:r>
            <a:endParaRPr lang="en-US" sz="1600" dirty="0"/>
          </a:p>
        </p:txBody>
      </p:sp>
      <p:sp>
        <p:nvSpPr>
          <p:cNvPr id="13" name="Text 11"/>
          <p:cNvSpPr/>
          <p:nvPr/>
        </p:nvSpPr>
        <p:spPr>
          <a:xfrm>
            <a:off x="6492240" y="2331720"/>
            <a:ext cx="5029200" cy="1554480"/>
          </a:xfrm>
          <a:prstGeom prst="rect">
            <a:avLst/>
          </a:prstGeom>
          <a:noFill/>
          <a:ln/>
        </p:spPr>
        <p:txBody>
          <a:bodyPr wrap="square" lIns="0" tIns="0" rIns="0" bIns="0" rtlCol="0" anchor="t"/>
          <a:lstStyle/>
          <a:p>
            <a:pPr marL="0" indent="0">
              <a:buNone/>
            </a:pPr>
            <a:r>
              <a:rPr lang="en-US" sz="1200" dirty="0">
                <a:solidFill>
                  <a:srgbClr val="1A1A2E"/>
                </a:solidFill>
                <a:latin typeface="Calibri" pitchFamily="34" charset="0"/>
                <a:ea typeface="Calibri" pitchFamily="34" charset="-122"/>
                <a:cs typeface="Calibri" pitchFamily="34" charset="-120"/>
              </a:rPr>
              <a:t>Advantages and log-probs are only valid under the collecting policy. After several steps, the policy drifts — importance weights explode, advantages go stale, and clipping silently zeros gradients.</a:t>
            </a:r>
            <a:endParaRPr lang="en-US" sz="1200" dirty="0"/>
          </a:p>
        </p:txBody>
      </p:sp>
      <p:sp>
        <p:nvSpPr>
          <p:cNvPr id="14" name="Shape 12"/>
          <p:cNvSpPr/>
          <p:nvPr/>
        </p:nvSpPr>
        <p:spPr>
          <a:xfrm>
            <a:off x="548640" y="4114800"/>
            <a:ext cx="11064240" cy="2011680"/>
          </a:xfrm>
          <a:prstGeom prst="rect">
            <a:avLst/>
          </a:prstGeom>
          <a:solidFill>
            <a:srgbClr val="1E2761"/>
          </a:solidFill>
          <a:ln w="12700">
            <a:solidFill>
              <a:srgbClr val="1E2761"/>
            </a:solidFill>
            <a:prstDash val="solid"/>
          </a:ln>
        </p:spPr>
        <p:txBody>
          <a:bodyPr/>
          <a:lstStyle/>
          <a:p>
            <a:endParaRPr lang="en-KZ"/>
          </a:p>
        </p:txBody>
      </p:sp>
      <p:sp>
        <p:nvSpPr>
          <p:cNvPr id="15" name="Text 13"/>
          <p:cNvSpPr/>
          <p:nvPr/>
        </p:nvSpPr>
        <p:spPr>
          <a:xfrm>
            <a:off x="731520" y="4206240"/>
            <a:ext cx="109728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GAE λ — Bias–Variance Dial</a:t>
            </a:r>
            <a:endParaRPr lang="en-US" sz="1600" dirty="0"/>
          </a:p>
        </p:txBody>
      </p:sp>
      <p:sp>
        <p:nvSpPr>
          <p:cNvPr id="16" name="Text 14"/>
          <p:cNvSpPr/>
          <p:nvPr/>
        </p:nvSpPr>
        <p:spPr>
          <a:xfrm>
            <a:off x="731520" y="4709160"/>
            <a:ext cx="3474720" cy="365760"/>
          </a:xfrm>
          <a:prstGeom prst="rect">
            <a:avLst/>
          </a:prstGeom>
          <a:noFill/>
          <a:ln/>
        </p:spPr>
        <p:txBody>
          <a:bodyPr wrap="square" lIns="0" tIns="0" rIns="0" bIns="0" rtlCol="0" anchor="ctr"/>
          <a:lstStyle/>
          <a:p>
            <a:pPr marL="0" indent="0">
              <a:buNone/>
            </a:pPr>
            <a:r>
              <a:rPr lang="en-US" sz="2000" b="1" dirty="0">
                <a:solidFill>
                  <a:srgbClr val="CADCFC"/>
                </a:solidFill>
                <a:latin typeface="Cambria" pitchFamily="34" charset="0"/>
                <a:ea typeface="Cambria" pitchFamily="34" charset="-122"/>
                <a:cs typeface="Cambria" pitchFamily="34" charset="-120"/>
              </a:rPr>
              <a:t>λ = 0</a:t>
            </a:r>
            <a:endParaRPr lang="en-US" sz="2000" dirty="0"/>
          </a:p>
        </p:txBody>
      </p:sp>
      <p:sp>
        <p:nvSpPr>
          <p:cNvPr id="17" name="Text 15"/>
          <p:cNvSpPr/>
          <p:nvPr/>
        </p:nvSpPr>
        <p:spPr>
          <a:xfrm>
            <a:off x="731520" y="5120640"/>
            <a:ext cx="3474720" cy="91440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Pure 1-step TD. Low variance, biased by V errors.</a:t>
            </a:r>
            <a:endParaRPr lang="en-US" sz="1200" dirty="0"/>
          </a:p>
        </p:txBody>
      </p:sp>
      <p:sp>
        <p:nvSpPr>
          <p:cNvPr id="18" name="Text 16"/>
          <p:cNvSpPr/>
          <p:nvPr/>
        </p:nvSpPr>
        <p:spPr>
          <a:xfrm>
            <a:off x="4389120" y="4709160"/>
            <a:ext cx="3474720" cy="365760"/>
          </a:xfrm>
          <a:prstGeom prst="rect">
            <a:avLst/>
          </a:prstGeom>
          <a:noFill/>
          <a:ln/>
        </p:spPr>
        <p:txBody>
          <a:bodyPr wrap="square" lIns="0" tIns="0" rIns="0" bIns="0" rtlCol="0" anchor="ctr"/>
          <a:lstStyle/>
          <a:p>
            <a:pPr marL="0" indent="0">
              <a:buNone/>
            </a:pPr>
            <a:r>
              <a:rPr lang="en-US" sz="2000" b="1" dirty="0">
                <a:solidFill>
                  <a:srgbClr val="F9B045"/>
                </a:solidFill>
                <a:latin typeface="Cambria" pitchFamily="34" charset="0"/>
                <a:ea typeface="Cambria" pitchFamily="34" charset="-122"/>
                <a:cs typeface="Cambria" pitchFamily="34" charset="-120"/>
              </a:rPr>
              <a:t>λ = 0.95</a:t>
            </a:r>
            <a:endParaRPr lang="en-US" sz="2000" dirty="0"/>
          </a:p>
        </p:txBody>
      </p:sp>
      <p:sp>
        <p:nvSpPr>
          <p:cNvPr id="19" name="Text 17"/>
          <p:cNvSpPr/>
          <p:nvPr/>
        </p:nvSpPr>
        <p:spPr>
          <a:xfrm>
            <a:off x="4389120" y="5120640"/>
            <a:ext cx="3474720" cy="91440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Practical sweet spot. ~10-step effective horizon.</a:t>
            </a:r>
            <a:endParaRPr lang="en-US" sz="1200" dirty="0"/>
          </a:p>
        </p:txBody>
      </p:sp>
      <p:sp>
        <p:nvSpPr>
          <p:cNvPr id="20" name="Text 18"/>
          <p:cNvSpPr/>
          <p:nvPr/>
        </p:nvSpPr>
        <p:spPr>
          <a:xfrm>
            <a:off x="8046720" y="4709160"/>
            <a:ext cx="3474720" cy="365760"/>
          </a:xfrm>
          <a:prstGeom prst="rect">
            <a:avLst/>
          </a:prstGeom>
          <a:noFill/>
          <a:ln/>
        </p:spPr>
        <p:txBody>
          <a:bodyPr wrap="square" lIns="0" tIns="0" rIns="0" bIns="0" rtlCol="0" anchor="ctr"/>
          <a:lstStyle/>
          <a:p>
            <a:pPr marL="0" indent="0">
              <a:buNone/>
            </a:pPr>
            <a:r>
              <a:rPr lang="en-US" sz="2000" b="1" dirty="0">
                <a:solidFill>
                  <a:srgbClr val="CADCFC"/>
                </a:solidFill>
                <a:latin typeface="Cambria" pitchFamily="34" charset="0"/>
                <a:ea typeface="Cambria" pitchFamily="34" charset="-122"/>
                <a:cs typeface="Cambria" pitchFamily="34" charset="-120"/>
              </a:rPr>
              <a:t>λ = 1</a:t>
            </a:r>
            <a:endParaRPr lang="en-US" sz="2000" dirty="0"/>
          </a:p>
        </p:txBody>
      </p:sp>
      <p:sp>
        <p:nvSpPr>
          <p:cNvPr id="21" name="Text 19"/>
          <p:cNvSpPr/>
          <p:nvPr/>
        </p:nvSpPr>
        <p:spPr>
          <a:xfrm>
            <a:off x="8046720" y="5120640"/>
            <a:ext cx="3474720" cy="91440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Monte Carlo returns. Unbiased but very noisy.</a:t>
            </a:r>
            <a:endParaRPr lang="en-US" sz="1200" dirty="0"/>
          </a:p>
        </p:txBody>
      </p:sp>
      <p:sp>
        <p:nvSpPr>
          <p:cNvPr id="22" name="Text 20"/>
          <p:cNvSpPr/>
          <p:nvPr/>
        </p:nvSpPr>
        <p:spPr>
          <a:xfrm>
            <a:off x="548640" y="6537960"/>
            <a:ext cx="1106424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HW4 · Exercise 3 · Theoretical Questions</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63626"/>
    </mc:Choice>
    <mc:Fallback xmlns="">
      <p:transition spd="slow" advTm="6362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4 · SAC</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SAC on SO100 — Off-Policy with Max Entropy</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sp>
        <p:nvSpPr>
          <p:cNvPr id="6" name="Shape 4"/>
          <p:cNvSpPr/>
          <p:nvPr/>
        </p:nvSpPr>
        <p:spPr>
          <a:xfrm>
            <a:off x="548640" y="1828800"/>
            <a:ext cx="6858000" cy="438912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7" name="Text 5"/>
          <p:cNvSpPr/>
          <p:nvPr/>
        </p:nvSpPr>
        <p:spPr>
          <a:xfrm>
            <a:off x="731520" y="1920240"/>
            <a:ext cx="640080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Eval Return</a:t>
            </a:r>
            <a:endParaRPr lang="en-US" sz="1400" dirty="0"/>
          </a:p>
        </p:txBody>
      </p:sp>
      <p:pic>
        <p:nvPicPr>
          <p:cNvPr id="8" name="Image 0" descr="/Users/shyngys/ethz/robot_learning/ethz-course-2026/hw4_reinforcement_learning/logs/sac/curves/eval_return.png"/>
          <p:cNvPicPr>
            <a:picLocks noChangeAspect="1"/>
          </p:cNvPicPr>
          <p:nvPr/>
        </p:nvPicPr>
        <p:blipFill>
          <a:blip r:embed="rId3"/>
          <a:srcRect/>
          <a:stretch/>
        </p:blipFill>
        <p:spPr>
          <a:xfrm>
            <a:off x="640080" y="2286000"/>
            <a:ext cx="6675120" cy="3840480"/>
          </a:xfrm>
          <a:prstGeom prst="rect">
            <a:avLst/>
          </a:prstGeom>
        </p:spPr>
      </p:pic>
      <p:sp>
        <p:nvSpPr>
          <p:cNvPr id="9" name="Shape 6"/>
          <p:cNvSpPr/>
          <p:nvPr/>
        </p:nvSpPr>
        <p:spPr>
          <a:xfrm>
            <a:off x="7589520" y="1828800"/>
            <a:ext cx="4023360" cy="2011680"/>
          </a:xfrm>
          <a:prstGeom prst="rect">
            <a:avLst/>
          </a:prstGeom>
          <a:solidFill>
            <a:srgbClr val="1E2761"/>
          </a:solidFill>
          <a:ln w="12700">
            <a:solidFill>
              <a:srgbClr val="1E2761"/>
            </a:solidFill>
            <a:prstDash val="solid"/>
          </a:ln>
        </p:spPr>
        <p:txBody>
          <a:bodyPr/>
          <a:lstStyle/>
          <a:p>
            <a:endParaRPr lang="en-KZ"/>
          </a:p>
        </p:txBody>
      </p:sp>
      <p:sp>
        <p:nvSpPr>
          <p:cNvPr id="10" name="Text 7"/>
          <p:cNvSpPr/>
          <p:nvPr/>
        </p:nvSpPr>
        <p:spPr>
          <a:xfrm>
            <a:off x="7772400" y="1920240"/>
            <a:ext cx="3657600" cy="320040"/>
          </a:xfrm>
          <a:prstGeom prst="rect">
            <a:avLst/>
          </a:prstGeom>
          <a:noFill/>
          <a:ln/>
        </p:spPr>
        <p:txBody>
          <a:bodyPr wrap="square" lIns="0" tIns="0" rIns="0" bIns="0" rtlCol="0" anchor="ctr"/>
          <a:lstStyle/>
          <a:p>
            <a:pPr marL="0" indent="0">
              <a:buNone/>
            </a:pPr>
            <a:r>
              <a:rPr lang="en-US" sz="1200" b="1" dirty="0">
                <a:solidFill>
                  <a:srgbClr val="CADCFC"/>
                </a:solidFill>
                <a:latin typeface="Cambria" pitchFamily="34" charset="0"/>
                <a:ea typeface="Cambria" pitchFamily="34" charset="-122"/>
                <a:cs typeface="Cambria" pitchFamily="34" charset="-120"/>
              </a:rPr>
              <a:t>Mean Return (20 eps)</a:t>
            </a:r>
            <a:endParaRPr lang="en-US" sz="1200" dirty="0"/>
          </a:p>
        </p:txBody>
      </p:sp>
      <p:sp>
        <p:nvSpPr>
          <p:cNvPr id="11" name="Text 8"/>
          <p:cNvSpPr/>
          <p:nvPr/>
        </p:nvSpPr>
        <p:spPr>
          <a:xfrm>
            <a:off x="7772400" y="2286000"/>
            <a:ext cx="3657600" cy="91440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42.1</a:t>
            </a:r>
            <a:endParaRPr lang="en-US" sz="6000" dirty="0"/>
          </a:p>
        </p:txBody>
      </p:sp>
      <p:sp>
        <p:nvSpPr>
          <p:cNvPr id="12" name="Text 9"/>
          <p:cNvSpPr/>
          <p:nvPr/>
        </p:nvSpPr>
        <p:spPr>
          <a:xfrm>
            <a:off x="7772400" y="3337560"/>
            <a:ext cx="3657600" cy="365760"/>
          </a:xfrm>
          <a:prstGeom prst="rect">
            <a:avLst/>
          </a:prstGeom>
          <a:noFill/>
          <a:ln/>
        </p:spPr>
        <p:txBody>
          <a:bodyPr wrap="square" lIns="0" tIns="0" rIns="0" bIns="0" rtlCol="0" anchor="ctr"/>
          <a:lstStyle/>
          <a:p>
            <a:pPr marL="0" indent="0">
              <a:buNone/>
            </a:pPr>
            <a:r>
              <a:rPr lang="en-US" sz="1100" b="1" dirty="0">
                <a:solidFill>
                  <a:srgbClr val="F9B045"/>
                </a:solidFill>
                <a:latin typeface="Calibri" pitchFamily="34" charset="0"/>
                <a:ea typeface="Calibri" pitchFamily="34" charset="-122"/>
                <a:cs typeface="Calibri" pitchFamily="34" charset="-120"/>
              </a:rPr>
              <a:t>tracking error = 0.031 m</a:t>
            </a:r>
            <a:endParaRPr lang="en-US" sz="1100" dirty="0"/>
          </a:p>
        </p:txBody>
      </p:sp>
      <p:sp>
        <p:nvSpPr>
          <p:cNvPr id="13" name="Shape 10"/>
          <p:cNvSpPr/>
          <p:nvPr/>
        </p:nvSpPr>
        <p:spPr>
          <a:xfrm>
            <a:off x="7589520" y="4023360"/>
            <a:ext cx="4023360" cy="2194560"/>
          </a:xfrm>
          <a:prstGeom prst="rect">
            <a:avLst/>
          </a:prstGeom>
          <a:solidFill>
            <a:srgbClr val="FFFFFF"/>
          </a:solidFill>
          <a:ln w="12700">
            <a:solidFill>
              <a:srgbClr val="E2E8F0"/>
            </a:solidFill>
            <a:prstDash val="solid"/>
          </a:ln>
        </p:spPr>
        <p:txBody>
          <a:bodyPr/>
          <a:lstStyle/>
          <a:p>
            <a:endParaRPr lang="en-KZ"/>
          </a:p>
        </p:txBody>
      </p:sp>
      <p:sp>
        <p:nvSpPr>
          <p:cNvPr id="14" name="Text 11"/>
          <p:cNvSpPr/>
          <p:nvPr/>
        </p:nvSpPr>
        <p:spPr>
          <a:xfrm>
            <a:off x="7772400" y="4114800"/>
            <a:ext cx="3657600" cy="274320"/>
          </a:xfrm>
          <a:prstGeom prst="rect">
            <a:avLst/>
          </a:prstGeom>
          <a:noFill/>
          <a:ln/>
        </p:spPr>
        <p:txBody>
          <a:bodyPr wrap="square" lIns="0" tIns="0" rIns="0" bIns="0" rtlCol="0" anchor="ctr"/>
          <a:lstStyle/>
          <a:p>
            <a:pPr marL="0" indent="0">
              <a:buNone/>
            </a:pPr>
            <a:r>
              <a:rPr lang="en-US" sz="1200" b="1" dirty="0">
                <a:solidFill>
                  <a:srgbClr val="F96167"/>
                </a:solidFill>
                <a:latin typeface="Cambria" pitchFamily="34" charset="0"/>
                <a:ea typeface="Cambria" pitchFamily="34" charset="-122"/>
                <a:cs typeface="Cambria" pitchFamily="34" charset="-120"/>
              </a:rPr>
              <a:t>Auto-Tuned α</a:t>
            </a:r>
            <a:endParaRPr lang="en-US" sz="1200" dirty="0"/>
          </a:p>
        </p:txBody>
      </p:sp>
      <p:pic>
        <p:nvPicPr>
          <p:cNvPr id="15" name="Image 1" descr="/Users/shyngys/ethz/robot_learning/ethz-course-2026/hw4_reinforcement_learning/logs/sac/curves/train_alpha.png"/>
          <p:cNvPicPr>
            <a:picLocks noChangeAspect="1"/>
          </p:cNvPicPr>
          <p:nvPr/>
        </p:nvPicPr>
        <p:blipFill>
          <a:blip r:embed="rId4"/>
          <a:srcRect/>
          <a:stretch/>
        </p:blipFill>
        <p:spPr>
          <a:xfrm>
            <a:off x="7635240" y="4434840"/>
            <a:ext cx="3931920" cy="1737360"/>
          </a:xfrm>
          <a:prstGeom prst="rect">
            <a:avLst/>
          </a:prstGeom>
        </p:spPr>
      </p:pic>
      <p:sp>
        <p:nvSpPr>
          <p:cNvPr id="16" name="Text 12"/>
          <p:cNvSpPr/>
          <p:nvPr/>
        </p:nvSpPr>
        <p:spPr>
          <a:xfrm>
            <a:off x="548640" y="6537960"/>
            <a:ext cx="1106424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HW4 · Exercise 4 · SAC (double-Q, entropy target, replay)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4 · THEORY (1/2)</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Max-Entropy Objective &amp; Tanh Correction</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sp>
        <p:nvSpPr>
          <p:cNvPr id="6" name="Shape 4"/>
          <p:cNvSpPr/>
          <p:nvPr/>
        </p:nvSpPr>
        <p:spPr>
          <a:xfrm>
            <a:off x="548640" y="1828800"/>
            <a:ext cx="5486400" cy="438912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7" name="Shape 5"/>
          <p:cNvSpPr/>
          <p:nvPr/>
        </p:nvSpPr>
        <p:spPr>
          <a:xfrm>
            <a:off x="548640" y="1828800"/>
            <a:ext cx="73152" cy="4389120"/>
          </a:xfrm>
          <a:prstGeom prst="rect">
            <a:avLst/>
          </a:prstGeom>
          <a:solidFill>
            <a:srgbClr val="1E2761"/>
          </a:solidFill>
          <a:ln w="12700">
            <a:solidFill>
              <a:srgbClr val="1E2761"/>
            </a:solidFill>
            <a:prstDash val="solid"/>
          </a:ln>
        </p:spPr>
        <p:txBody>
          <a:bodyPr/>
          <a:lstStyle/>
          <a:p>
            <a:endParaRPr lang="en-KZ"/>
          </a:p>
        </p:txBody>
      </p:sp>
      <p:sp>
        <p:nvSpPr>
          <p:cNvPr id="8" name="Text 6"/>
          <p:cNvSpPr/>
          <p:nvPr/>
        </p:nvSpPr>
        <p:spPr>
          <a:xfrm>
            <a:off x="822960" y="1920240"/>
            <a:ext cx="5029200" cy="36576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Why an entropy bonus?</a:t>
            </a:r>
            <a:endParaRPr lang="en-US" sz="1800" dirty="0"/>
          </a:p>
        </p:txBody>
      </p:sp>
      <p:sp>
        <p:nvSpPr>
          <p:cNvPr id="9" name="Text 7"/>
          <p:cNvSpPr/>
          <p:nvPr/>
        </p:nvSpPr>
        <p:spPr>
          <a:xfrm>
            <a:off x="822960" y="2286000"/>
            <a:ext cx="5029200" cy="365760"/>
          </a:xfrm>
          <a:prstGeom prst="rect">
            <a:avLst/>
          </a:prstGeom>
          <a:noFill/>
          <a:ln/>
        </p:spPr>
        <p:txBody>
          <a:bodyPr wrap="square" lIns="0" tIns="0" rIns="0" bIns="0" rtlCol="0" anchor="ctr"/>
          <a:lstStyle/>
          <a:p>
            <a:pPr marL="0" indent="0">
              <a:buNone/>
            </a:pPr>
            <a:r>
              <a:rPr lang="en-US" sz="1400" i="1" dirty="0">
                <a:solidFill>
                  <a:srgbClr val="F96167"/>
                </a:solidFill>
                <a:latin typeface="Consolas" pitchFamily="34" charset="0"/>
                <a:ea typeface="Consolas" pitchFamily="34" charset="-122"/>
                <a:cs typeface="Consolas" pitchFamily="34" charset="-120"/>
              </a:rPr>
              <a:t>J(π) = E[Σγᵗ(rₜ + α·H(π))]</a:t>
            </a:r>
            <a:endParaRPr lang="en-US" sz="1400" dirty="0"/>
          </a:p>
        </p:txBody>
      </p:sp>
      <p:sp>
        <p:nvSpPr>
          <p:cNvPr id="10" name="Text 8"/>
          <p:cNvSpPr/>
          <p:nvPr/>
        </p:nvSpPr>
        <p:spPr>
          <a:xfrm>
            <a:off x="822960" y="2788920"/>
            <a:ext cx="5029200" cy="3291840"/>
          </a:xfrm>
          <a:prstGeom prst="rect">
            <a:avLst/>
          </a:prstGeom>
          <a:noFill/>
          <a:ln/>
        </p:spPr>
        <p:txBody>
          <a:bodyPr wrap="square" rtlCol="0" anchor="t"/>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Systematic exploration — prevents premature collapse to a deterministic suboptimal policy.</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Robustness — stochastic policies survive perturbations and dynamics shift.</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Multi-modal: keeps mass on multiple good actions.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Smoother optimization landscape, better gradients.</a:t>
            </a:r>
            <a:endParaRPr lang="en-US" sz="1300" dirty="0"/>
          </a:p>
        </p:txBody>
      </p:sp>
      <p:sp>
        <p:nvSpPr>
          <p:cNvPr id="11" name="Shape 9"/>
          <p:cNvSpPr/>
          <p:nvPr/>
        </p:nvSpPr>
        <p:spPr>
          <a:xfrm>
            <a:off x="6217920" y="1828800"/>
            <a:ext cx="5486400" cy="438912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12" name="Shape 10"/>
          <p:cNvSpPr/>
          <p:nvPr/>
        </p:nvSpPr>
        <p:spPr>
          <a:xfrm>
            <a:off x="6217920" y="1828800"/>
            <a:ext cx="73152" cy="4389120"/>
          </a:xfrm>
          <a:prstGeom prst="rect">
            <a:avLst/>
          </a:prstGeom>
          <a:solidFill>
            <a:srgbClr val="F96167"/>
          </a:solidFill>
          <a:ln w="12700">
            <a:solidFill>
              <a:srgbClr val="F96167"/>
            </a:solidFill>
            <a:prstDash val="solid"/>
          </a:ln>
        </p:spPr>
        <p:txBody>
          <a:bodyPr/>
          <a:lstStyle/>
          <a:p>
            <a:endParaRPr lang="en-KZ"/>
          </a:p>
        </p:txBody>
      </p:sp>
      <p:sp>
        <p:nvSpPr>
          <p:cNvPr id="13" name="Text 11"/>
          <p:cNvSpPr/>
          <p:nvPr/>
        </p:nvSpPr>
        <p:spPr>
          <a:xfrm>
            <a:off x="6492240" y="1920240"/>
            <a:ext cx="5029200" cy="365760"/>
          </a:xfrm>
          <a:prstGeom prst="rect">
            <a:avLst/>
          </a:prstGeom>
          <a:noFill/>
          <a:ln/>
        </p:spPr>
        <p:txBody>
          <a:bodyPr wrap="square" lIns="0" tIns="0" rIns="0" bIns="0" rtlCol="0" anchor="ctr"/>
          <a:lstStyle/>
          <a:p>
            <a:pPr marL="0" indent="0">
              <a:buNone/>
            </a:pPr>
            <a:r>
              <a:rPr lang="en-US" sz="1800" b="1" dirty="0">
                <a:solidFill>
                  <a:srgbClr val="F96167"/>
                </a:solidFill>
                <a:latin typeface="Cambria" pitchFamily="34" charset="0"/>
                <a:ea typeface="Cambria" pitchFamily="34" charset="-122"/>
                <a:cs typeface="Cambria" pitchFamily="34" charset="-120"/>
              </a:rPr>
              <a:t>Why correct log π for tanh?</a:t>
            </a:r>
            <a:endParaRPr lang="en-US" sz="1800" dirty="0"/>
          </a:p>
        </p:txBody>
      </p:sp>
      <p:sp>
        <p:nvSpPr>
          <p:cNvPr id="14" name="Text 12"/>
          <p:cNvSpPr/>
          <p:nvPr/>
        </p:nvSpPr>
        <p:spPr>
          <a:xfrm>
            <a:off x="6492240" y="2286000"/>
            <a:ext cx="5029200" cy="365760"/>
          </a:xfrm>
          <a:prstGeom prst="rect">
            <a:avLst/>
          </a:prstGeom>
          <a:noFill/>
          <a:ln/>
        </p:spPr>
        <p:txBody>
          <a:bodyPr wrap="square" lIns="0" tIns="0" rIns="0" bIns="0" rtlCol="0" anchor="ctr"/>
          <a:lstStyle/>
          <a:p>
            <a:pPr marL="0" indent="0">
              <a:buNone/>
            </a:pPr>
            <a:r>
              <a:rPr lang="en-US" sz="1400" i="1" dirty="0">
                <a:solidFill>
                  <a:srgbClr val="1E2761"/>
                </a:solidFill>
                <a:latin typeface="Consolas" pitchFamily="34" charset="0"/>
                <a:ea typeface="Consolas" pitchFamily="34" charset="-122"/>
                <a:cs typeface="Consolas" pitchFamily="34" charset="-120"/>
              </a:rPr>
              <a:t>u ~ N(μ,σ)  →  a = tanh(u)</a:t>
            </a:r>
            <a:endParaRPr lang="en-US" sz="1400" dirty="0"/>
          </a:p>
        </p:txBody>
      </p:sp>
      <p:sp>
        <p:nvSpPr>
          <p:cNvPr id="15" name="Text 13"/>
          <p:cNvSpPr/>
          <p:nvPr/>
        </p:nvSpPr>
        <p:spPr>
          <a:xfrm>
            <a:off x="6492240" y="2651760"/>
            <a:ext cx="5029200" cy="365760"/>
          </a:xfrm>
          <a:prstGeom prst="rect">
            <a:avLst/>
          </a:prstGeom>
          <a:noFill/>
          <a:ln/>
        </p:spPr>
        <p:txBody>
          <a:bodyPr wrap="square" lIns="0" tIns="0" rIns="0" bIns="0"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log π(a|s) = log π(u|s) − Σ log(1 − tanh²(u))</a:t>
            </a:r>
            <a:endParaRPr lang="en-US" sz="1200" dirty="0"/>
          </a:p>
        </p:txBody>
      </p:sp>
      <p:sp>
        <p:nvSpPr>
          <p:cNvPr id="16" name="Text 14"/>
          <p:cNvSpPr/>
          <p:nvPr/>
        </p:nvSpPr>
        <p:spPr>
          <a:xfrm>
            <a:off x="6492240" y="3108960"/>
            <a:ext cx="5029200" cy="3017520"/>
          </a:xfrm>
          <a:prstGeom prst="rect">
            <a:avLst/>
          </a:prstGeom>
          <a:noFill/>
          <a:ln/>
        </p:spPr>
        <p:txBody>
          <a:bodyPr wrap="square" rtlCol="0" anchor="t"/>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Tanh compresses the density near ±1 — change-of-variables demands a Jacobian correction.</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Without it: entropy is over-estimated, α tunes wrong, actor gradients are biased.</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Critic target, actor loss, and α-loss all read log π — all three would break.</a:t>
            </a:r>
            <a:endParaRPr lang="en-US" sz="1300" dirty="0"/>
          </a:p>
        </p:txBody>
      </p:sp>
      <p:sp>
        <p:nvSpPr>
          <p:cNvPr id="17" name="Text 15"/>
          <p:cNvSpPr/>
          <p:nvPr/>
        </p:nvSpPr>
        <p:spPr>
          <a:xfrm>
            <a:off x="548640" y="6537960"/>
            <a:ext cx="1106424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HW4 · Exercise 4 · Entropy &amp; Tanh Correction</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58541"/>
    </mc:Choice>
    <mc:Fallback xmlns="">
      <p:transition spd="slow" advTm="5854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4 · THEORY (2/2)</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Auto α and Update-to-Data Ratio</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sp>
        <p:nvSpPr>
          <p:cNvPr id="6" name="Shape 4"/>
          <p:cNvSpPr/>
          <p:nvPr/>
        </p:nvSpPr>
        <p:spPr>
          <a:xfrm>
            <a:off x="548640" y="1828800"/>
            <a:ext cx="5486400" cy="4389120"/>
          </a:xfrm>
          <a:prstGeom prst="rect">
            <a:avLst/>
          </a:prstGeom>
          <a:solidFill>
            <a:srgbClr val="1E2761"/>
          </a:solidFill>
          <a:ln w="12700">
            <a:solidFill>
              <a:srgbClr val="1E2761"/>
            </a:solidFill>
            <a:prstDash val="solid"/>
          </a:ln>
        </p:spPr>
        <p:txBody>
          <a:bodyPr/>
          <a:lstStyle/>
          <a:p>
            <a:endParaRPr lang="en-KZ"/>
          </a:p>
        </p:txBody>
      </p:sp>
      <p:sp>
        <p:nvSpPr>
          <p:cNvPr id="7" name="Text 5"/>
          <p:cNvSpPr/>
          <p:nvPr/>
        </p:nvSpPr>
        <p:spPr>
          <a:xfrm>
            <a:off x="731520" y="1920240"/>
            <a:ext cx="521208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How auto-α works</a:t>
            </a:r>
            <a:endParaRPr lang="en-US" sz="1800" dirty="0"/>
          </a:p>
        </p:txBody>
      </p:sp>
      <p:sp>
        <p:nvSpPr>
          <p:cNvPr id="8" name="Text 6"/>
          <p:cNvSpPr/>
          <p:nvPr/>
        </p:nvSpPr>
        <p:spPr>
          <a:xfrm>
            <a:off x="731520" y="2331720"/>
            <a:ext cx="5212080" cy="365760"/>
          </a:xfrm>
          <a:prstGeom prst="rect">
            <a:avLst/>
          </a:prstGeom>
          <a:noFill/>
          <a:ln/>
        </p:spPr>
        <p:txBody>
          <a:bodyPr wrap="square" lIns="0" tIns="0" rIns="0" bIns="0" rtlCol="0" anchor="ctr"/>
          <a:lstStyle/>
          <a:p>
            <a:pPr marL="0" indent="0">
              <a:buNone/>
            </a:pPr>
            <a:r>
              <a:rPr lang="en-US" sz="1300" dirty="0">
                <a:solidFill>
                  <a:srgbClr val="F9B045"/>
                </a:solidFill>
                <a:latin typeface="Consolas" pitchFamily="34" charset="0"/>
                <a:ea typeface="Consolas" pitchFamily="34" charset="-122"/>
                <a:cs typeface="Consolas" pitchFamily="34" charset="-120"/>
              </a:rPr>
              <a:t>L_α = E[ −log α · (log π + H_target) ]</a:t>
            </a:r>
            <a:endParaRPr lang="en-US" sz="1300" dirty="0"/>
          </a:p>
        </p:txBody>
      </p:sp>
      <p:sp>
        <p:nvSpPr>
          <p:cNvPr id="9" name="Shape 7"/>
          <p:cNvSpPr/>
          <p:nvPr/>
        </p:nvSpPr>
        <p:spPr>
          <a:xfrm>
            <a:off x="731520" y="2880360"/>
            <a:ext cx="73152" cy="1371600"/>
          </a:xfrm>
          <a:prstGeom prst="rect">
            <a:avLst/>
          </a:prstGeom>
          <a:solidFill>
            <a:srgbClr val="F9B045"/>
          </a:solidFill>
          <a:ln w="12700">
            <a:solidFill>
              <a:srgbClr val="F9B045"/>
            </a:solidFill>
            <a:prstDash val="solid"/>
          </a:ln>
        </p:spPr>
        <p:txBody>
          <a:bodyPr/>
          <a:lstStyle/>
          <a:p>
            <a:endParaRPr lang="en-KZ"/>
          </a:p>
        </p:txBody>
      </p:sp>
      <p:sp>
        <p:nvSpPr>
          <p:cNvPr id="10" name="Text 8"/>
          <p:cNvSpPr/>
          <p:nvPr/>
        </p:nvSpPr>
        <p:spPr>
          <a:xfrm>
            <a:off x="914400" y="2880360"/>
            <a:ext cx="5029200" cy="320040"/>
          </a:xfrm>
          <a:prstGeom prst="rect">
            <a:avLst/>
          </a:prstGeom>
          <a:noFill/>
          <a:ln/>
        </p:spPr>
        <p:txBody>
          <a:bodyPr wrap="square" lIns="0" tIns="0" rIns="0" bIns="0" rtlCol="0" anchor="ctr"/>
          <a:lstStyle/>
          <a:p>
            <a:pPr marL="0" indent="0">
              <a:buNone/>
            </a:pPr>
            <a:r>
              <a:rPr lang="en-US" sz="1300" b="1" dirty="0">
                <a:solidFill>
                  <a:srgbClr val="F9B045"/>
                </a:solidFill>
                <a:latin typeface="Cambria" pitchFamily="34" charset="0"/>
                <a:ea typeface="Cambria" pitchFamily="34" charset="-122"/>
                <a:cs typeface="Cambria" pitchFamily="34" charset="-120"/>
              </a:rPr>
              <a:t>Entropy ABOVE target</a:t>
            </a:r>
            <a:endParaRPr lang="en-US" sz="1300" dirty="0"/>
          </a:p>
        </p:txBody>
      </p:sp>
      <p:sp>
        <p:nvSpPr>
          <p:cNvPr id="11" name="Text 9"/>
          <p:cNvSpPr/>
          <p:nvPr/>
        </p:nvSpPr>
        <p:spPr>
          <a:xfrm>
            <a:off x="914400" y="3200400"/>
            <a:ext cx="4937760" cy="10058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(log π + H_target) &lt; 0  →  α decreases → less regularization, policy can sharpen.</a:t>
            </a:r>
            <a:endParaRPr lang="en-US" sz="1100" dirty="0"/>
          </a:p>
        </p:txBody>
      </p:sp>
      <p:sp>
        <p:nvSpPr>
          <p:cNvPr id="12" name="Shape 10"/>
          <p:cNvSpPr/>
          <p:nvPr/>
        </p:nvSpPr>
        <p:spPr>
          <a:xfrm>
            <a:off x="731520" y="4389120"/>
            <a:ext cx="73152" cy="1371600"/>
          </a:xfrm>
          <a:prstGeom prst="rect">
            <a:avLst/>
          </a:prstGeom>
          <a:solidFill>
            <a:srgbClr val="F96167"/>
          </a:solidFill>
          <a:ln w="12700">
            <a:solidFill>
              <a:srgbClr val="F96167"/>
            </a:solidFill>
            <a:prstDash val="solid"/>
          </a:ln>
        </p:spPr>
        <p:txBody>
          <a:bodyPr/>
          <a:lstStyle/>
          <a:p>
            <a:endParaRPr lang="en-KZ"/>
          </a:p>
        </p:txBody>
      </p:sp>
      <p:sp>
        <p:nvSpPr>
          <p:cNvPr id="13" name="Text 11"/>
          <p:cNvSpPr/>
          <p:nvPr/>
        </p:nvSpPr>
        <p:spPr>
          <a:xfrm>
            <a:off x="914400" y="4389120"/>
            <a:ext cx="5029200" cy="320040"/>
          </a:xfrm>
          <a:prstGeom prst="rect">
            <a:avLst/>
          </a:prstGeom>
          <a:noFill/>
          <a:ln/>
        </p:spPr>
        <p:txBody>
          <a:bodyPr wrap="square" lIns="0" tIns="0" rIns="0" bIns="0" rtlCol="0" anchor="ctr"/>
          <a:lstStyle/>
          <a:p>
            <a:pPr marL="0" indent="0">
              <a:buNone/>
            </a:pPr>
            <a:r>
              <a:rPr lang="en-US" sz="1300" b="1" dirty="0">
                <a:solidFill>
                  <a:srgbClr val="F96167"/>
                </a:solidFill>
                <a:latin typeface="Cambria" pitchFamily="34" charset="0"/>
                <a:ea typeface="Cambria" pitchFamily="34" charset="-122"/>
                <a:cs typeface="Cambria" pitchFamily="34" charset="-120"/>
              </a:rPr>
              <a:t>Entropy BELOW target</a:t>
            </a:r>
            <a:endParaRPr lang="en-US" sz="1300" dirty="0"/>
          </a:p>
        </p:txBody>
      </p:sp>
      <p:sp>
        <p:nvSpPr>
          <p:cNvPr id="14" name="Text 12"/>
          <p:cNvSpPr/>
          <p:nvPr/>
        </p:nvSpPr>
        <p:spPr>
          <a:xfrm>
            <a:off x="914400" y="4709160"/>
            <a:ext cx="4937760" cy="10058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(log π + H_target) &gt; 0  →  α increases → stronger entropy push, policy explores more.</a:t>
            </a:r>
            <a:endParaRPr lang="en-US" sz="1100" dirty="0"/>
          </a:p>
        </p:txBody>
      </p:sp>
      <p:sp>
        <p:nvSpPr>
          <p:cNvPr id="15" name="Text 13"/>
          <p:cNvSpPr/>
          <p:nvPr/>
        </p:nvSpPr>
        <p:spPr>
          <a:xfrm>
            <a:off x="731520" y="5852160"/>
            <a:ext cx="5212080" cy="27432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Self-regulating loop holds the policy at target entropy ≈ −act_dim.</a:t>
            </a:r>
            <a:endParaRPr lang="en-US" sz="1000" dirty="0"/>
          </a:p>
        </p:txBody>
      </p:sp>
      <p:sp>
        <p:nvSpPr>
          <p:cNvPr id="16" name="Shape 14"/>
          <p:cNvSpPr/>
          <p:nvPr/>
        </p:nvSpPr>
        <p:spPr>
          <a:xfrm>
            <a:off x="6217920" y="1828800"/>
            <a:ext cx="5486400" cy="4389120"/>
          </a:xfrm>
          <a:prstGeom prst="rect">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txBody>
          <a:bodyPr/>
          <a:lstStyle/>
          <a:p>
            <a:endParaRPr lang="en-KZ"/>
          </a:p>
        </p:txBody>
      </p:sp>
      <p:sp>
        <p:nvSpPr>
          <p:cNvPr id="17" name="Shape 15"/>
          <p:cNvSpPr/>
          <p:nvPr/>
        </p:nvSpPr>
        <p:spPr>
          <a:xfrm>
            <a:off x="6217920" y="1828800"/>
            <a:ext cx="73152" cy="4389120"/>
          </a:xfrm>
          <a:prstGeom prst="rect">
            <a:avLst/>
          </a:prstGeom>
          <a:solidFill>
            <a:srgbClr val="F96167"/>
          </a:solidFill>
          <a:ln w="12700">
            <a:solidFill>
              <a:srgbClr val="F96167"/>
            </a:solidFill>
            <a:prstDash val="solid"/>
          </a:ln>
        </p:spPr>
        <p:txBody>
          <a:bodyPr/>
          <a:lstStyle/>
          <a:p>
            <a:endParaRPr lang="en-KZ"/>
          </a:p>
        </p:txBody>
      </p:sp>
      <p:sp>
        <p:nvSpPr>
          <p:cNvPr id="18" name="Text 16"/>
          <p:cNvSpPr/>
          <p:nvPr/>
        </p:nvSpPr>
        <p:spPr>
          <a:xfrm>
            <a:off x="6492240" y="1920240"/>
            <a:ext cx="5029200" cy="36576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UTD: Update-to-Data Ratio</a:t>
            </a:r>
            <a:endParaRPr lang="en-US" sz="1800" dirty="0"/>
          </a:p>
        </p:txBody>
      </p:sp>
      <p:sp>
        <p:nvSpPr>
          <p:cNvPr id="19" name="Text 17"/>
          <p:cNvSpPr/>
          <p:nvPr/>
        </p:nvSpPr>
        <p:spPr>
          <a:xfrm>
            <a:off x="6492240" y="2514600"/>
            <a:ext cx="1371600" cy="54864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PPO</a:t>
            </a:r>
            <a:endParaRPr lang="en-US" sz="2400" dirty="0"/>
          </a:p>
        </p:txBody>
      </p:sp>
      <p:sp>
        <p:nvSpPr>
          <p:cNvPr id="20" name="Text 18"/>
          <p:cNvSpPr/>
          <p:nvPr/>
        </p:nvSpPr>
        <p:spPr>
          <a:xfrm>
            <a:off x="8046720" y="2514600"/>
            <a:ext cx="3474720" cy="548640"/>
          </a:xfrm>
          <a:prstGeom prst="rect">
            <a:avLst/>
          </a:prstGeom>
          <a:noFill/>
          <a:ln/>
        </p:spPr>
        <p:txBody>
          <a:bodyPr wrap="square" lIns="0" tIns="0" rIns="0" bIns="0" rtlCol="0" anchor="ctr"/>
          <a:lstStyle/>
          <a:p>
            <a:pPr marL="0" indent="0">
              <a:buNone/>
            </a:pPr>
            <a:r>
              <a:rPr lang="en-US" sz="3200" b="1" dirty="0">
                <a:solidFill>
                  <a:srgbClr val="F96167"/>
                </a:solidFill>
                <a:latin typeface="Cambria" pitchFamily="34" charset="0"/>
                <a:ea typeface="Cambria" pitchFamily="34" charset="-122"/>
                <a:cs typeface="Cambria" pitchFamily="34" charset="-120"/>
              </a:rPr>
              <a:t>≈ 0.01</a:t>
            </a:r>
            <a:endParaRPr lang="en-US" sz="3200" dirty="0"/>
          </a:p>
        </p:txBody>
      </p:sp>
      <p:sp>
        <p:nvSpPr>
          <p:cNvPr id="21" name="Text 19"/>
          <p:cNvSpPr/>
          <p:nvPr/>
        </p:nvSpPr>
        <p:spPr>
          <a:xfrm>
            <a:off x="6492240" y="3108960"/>
            <a:ext cx="50292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10 epochs × 2 mini-batches ÷ 2048 env steps</a:t>
            </a:r>
            <a:endParaRPr lang="en-US" sz="1000" dirty="0"/>
          </a:p>
        </p:txBody>
      </p:sp>
      <p:sp>
        <p:nvSpPr>
          <p:cNvPr id="22" name="Shape 20"/>
          <p:cNvSpPr/>
          <p:nvPr/>
        </p:nvSpPr>
        <p:spPr>
          <a:xfrm>
            <a:off x="6492240" y="3520440"/>
            <a:ext cx="5029200" cy="0"/>
          </a:xfrm>
          <a:prstGeom prst="line">
            <a:avLst/>
          </a:prstGeom>
          <a:noFill/>
          <a:ln w="12700">
            <a:solidFill>
              <a:srgbClr val="E2E8F0"/>
            </a:solidFill>
            <a:prstDash val="solid"/>
          </a:ln>
        </p:spPr>
        <p:txBody>
          <a:bodyPr/>
          <a:lstStyle/>
          <a:p>
            <a:endParaRPr lang="en-KZ"/>
          </a:p>
        </p:txBody>
      </p:sp>
      <p:sp>
        <p:nvSpPr>
          <p:cNvPr id="23" name="Text 21"/>
          <p:cNvSpPr/>
          <p:nvPr/>
        </p:nvSpPr>
        <p:spPr>
          <a:xfrm>
            <a:off x="6492240" y="3749040"/>
            <a:ext cx="1371600" cy="54864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SAC</a:t>
            </a:r>
            <a:endParaRPr lang="en-US" sz="2400" dirty="0"/>
          </a:p>
        </p:txBody>
      </p:sp>
      <p:sp>
        <p:nvSpPr>
          <p:cNvPr id="24" name="Text 22"/>
          <p:cNvSpPr/>
          <p:nvPr/>
        </p:nvSpPr>
        <p:spPr>
          <a:xfrm>
            <a:off x="8046720" y="3749040"/>
            <a:ext cx="3474720" cy="548640"/>
          </a:xfrm>
          <a:prstGeom prst="rect">
            <a:avLst/>
          </a:prstGeom>
          <a:noFill/>
          <a:ln/>
        </p:spPr>
        <p:txBody>
          <a:bodyPr wrap="square" lIns="0" tIns="0" rIns="0" bIns="0" rtlCol="0" anchor="ctr"/>
          <a:lstStyle/>
          <a:p>
            <a:pPr marL="0" indent="0">
              <a:buNone/>
            </a:pPr>
            <a:r>
              <a:rPr lang="en-US" sz="3200" b="1" dirty="0">
                <a:solidFill>
                  <a:srgbClr val="F96167"/>
                </a:solidFill>
                <a:latin typeface="Cambria" pitchFamily="34" charset="0"/>
                <a:ea typeface="Cambria" pitchFamily="34" charset="-122"/>
                <a:cs typeface="Cambria" pitchFamily="34" charset="-120"/>
              </a:rPr>
              <a:t>≈ 1.0</a:t>
            </a:r>
            <a:endParaRPr lang="en-US" sz="3200" dirty="0"/>
          </a:p>
        </p:txBody>
      </p:sp>
      <p:sp>
        <p:nvSpPr>
          <p:cNvPr id="25" name="Text 23"/>
          <p:cNvSpPr/>
          <p:nvPr/>
        </p:nvSpPr>
        <p:spPr>
          <a:xfrm>
            <a:off x="6492240" y="4343400"/>
            <a:ext cx="50292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One gradient step per new transition (replay buffer).</a:t>
            </a:r>
            <a:endParaRPr lang="en-US" sz="1000" dirty="0"/>
          </a:p>
        </p:txBody>
      </p:sp>
      <p:sp>
        <p:nvSpPr>
          <p:cNvPr id="26" name="Shape 24"/>
          <p:cNvSpPr/>
          <p:nvPr/>
        </p:nvSpPr>
        <p:spPr>
          <a:xfrm>
            <a:off x="6355080" y="4892040"/>
            <a:ext cx="5212080" cy="1188720"/>
          </a:xfrm>
          <a:prstGeom prst="rect">
            <a:avLst/>
          </a:prstGeom>
          <a:solidFill>
            <a:srgbClr val="CADCFC"/>
          </a:solidFill>
          <a:ln w="12700">
            <a:solidFill>
              <a:srgbClr val="CADCFC"/>
            </a:solidFill>
            <a:prstDash val="solid"/>
          </a:ln>
        </p:spPr>
        <p:txBody>
          <a:bodyPr/>
          <a:lstStyle/>
          <a:p>
            <a:endParaRPr lang="en-KZ"/>
          </a:p>
        </p:txBody>
      </p:sp>
      <p:sp>
        <p:nvSpPr>
          <p:cNvPr id="27" name="Text 25"/>
          <p:cNvSpPr/>
          <p:nvPr/>
        </p:nvSpPr>
        <p:spPr>
          <a:xfrm>
            <a:off x="6446520" y="4983480"/>
            <a:ext cx="5029200" cy="10058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SAC ≈ 10× more sample-efficient. PPO ≈ 10× cheaper per env step.</a:t>
            </a:r>
            <a:endParaRPr lang="en-US" sz="1200" dirty="0"/>
          </a:p>
        </p:txBody>
      </p:sp>
      <p:sp>
        <p:nvSpPr>
          <p:cNvPr id="28" name="Text 26"/>
          <p:cNvSpPr/>
          <p:nvPr/>
        </p:nvSpPr>
        <p:spPr>
          <a:xfrm>
            <a:off x="548640" y="6537960"/>
            <a:ext cx="1106424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HW4 · Exercise 4 · α-tuning &amp; UTD Ratio</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57896"/>
    </mc:Choice>
    <mc:Fallback xmlns="">
      <p:transition spd="slow" advTm="5789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96167"/>
          </a:solidFill>
          <a:ln w="12700">
            <a:solidFill>
              <a:srgbClr val="F96167"/>
            </a:solidFill>
            <a:prstDash val="solid"/>
          </a:ln>
        </p:spPr>
        <p:txBody>
          <a:bodyPr/>
          <a:lstStyle/>
          <a:p>
            <a:endParaRPr lang="en-KZ"/>
          </a:p>
        </p:txBody>
      </p:sp>
      <p:sp>
        <p:nvSpPr>
          <p:cNvPr id="3" name="Text 1"/>
          <p:cNvSpPr/>
          <p:nvPr/>
        </p:nvSpPr>
        <p:spPr>
          <a:xfrm>
            <a:off x="548640" y="274320"/>
            <a:ext cx="5486400" cy="365760"/>
          </a:xfrm>
          <a:prstGeom prst="rect">
            <a:avLst/>
          </a:prstGeom>
          <a:noFill/>
          <a:ln/>
        </p:spPr>
        <p:txBody>
          <a:bodyPr wrap="square" lIns="0" tIns="0" rIns="0" bIns="0" rtlCol="0" anchor="ctr"/>
          <a:lstStyle/>
          <a:p>
            <a:pPr marL="0" indent="0">
              <a:buNone/>
            </a:pPr>
            <a:r>
              <a:rPr lang="en-US" sz="1200" b="1" kern="0" spc="400" dirty="0">
                <a:solidFill>
                  <a:srgbClr val="F96167"/>
                </a:solidFill>
                <a:latin typeface="Calibri" pitchFamily="34" charset="0"/>
                <a:ea typeface="Calibri" pitchFamily="34" charset="-122"/>
                <a:cs typeface="Calibri" pitchFamily="34" charset="-120"/>
              </a:rPr>
              <a:t>EXERCISE 4 · SYNTHESIS</a:t>
            </a:r>
            <a:endParaRPr lang="en-US" sz="1200" dirty="0"/>
          </a:p>
        </p:txBody>
      </p:sp>
      <p:sp>
        <p:nvSpPr>
          <p:cNvPr id="4" name="Text 2"/>
          <p:cNvSpPr/>
          <p:nvPr/>
        </p:nvSpPr>
        <p:spPr>
          <a:xfrm>
            <a:off x="548640" y="594360"/>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On-Policy vs Off-Policy — The Core Tradeoff</a:t>
            </a:r>
            <a:endParaRPr lang="en-US" sz="3200" dirty="0"/>
          </a:p>
        </p:txBody>
      </p:sp>
      <p:sp>
        <p:nvSpPr>
          <p:cNvPr id="5" name="Shape 3"/>
          <p:cNvSpPr/>
          <p:nvPr/>
        </p:nvSpPr>
        <p:spPr>
          <a:xfrm>
            <a:off x="548640" y="1417320"/>
            <a:ext cx="1371600" cy="0"/>
          </a:xfrm>
          <a:prstGeom prst="line">
            <a:avLst/>
          </a:prstGeom>
          <a:noFill/>
          <a:ln w="25400">
            <a:solidFill>
              <a:srgbClr val="F96167"/>
            </a:solidFill>
            <a:prstDash val="solid"/>
          </a:ln>
        </p:spPr>
        <p:txBody>
          <a:bodyPr/>
          <a:lstStyle/>
          <a:p>
            <a:endParaRPr lang="en-KZ"/>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520440"/>
        </p:xfrm>
        <a:graphic>
          <a:graphicData uri="http://schemas.openxmlformats.org/drawingml/2006/table">
            <a:tbl>
              <a:tblPr/>
              <a:tblGrid>
                <a:gridCol w="32004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02920">
                <a:tc>
                  <a:txBody>
                    <a:bodyPr/>
                    <a:lstStyle/>
                    <a:p>
                      <a:pPr marL="0" indent="0">
                        <a:buNone/>
                      </a:pPr>
                      <a:endParaRPr lang="en-US" sz="1200" dirty="0">
                        <a:latin typeface="Cambria" charset="0"/>
                        <a:ea typeface="Cambria" charset="0"/>
                        <a:cs typeface="Cambria"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mbria" pitchFamily="34" charset="0"/>
                          <a:ea typeface="Cambria" pitchFamily="34" charset="-122"/>
                          <a:cs typeface="Cambria" pitchFamily="34" charset="-120"/>
                        </a:rPr>
                        <a:t>On-Policy (PPO)</a:t>
                      </a:r>
                      <a:endParaRPr lang="en-US" sz="1200" dirty="0">
                        <a:latin typeface="Cambria" charset="0"/>
                        <a:ea typeface="Cambria" charset="0"/>
                        <a:cs typeface="Cambria"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mbria" pitchFamily="34" charset="0"/>
                          <a:ea typeface="Cambria" pitchFamily="34" charset="-122"/>
                          <a:cs typeface="Cambria" pitchFamily="34" charset="-120"/>
                        </a:rPr>
                        <a:t>Off-Policy (SAC)</a:t>
                      </a:r>
                      <a:endParaRPr lang="en-US" sz="1200" dirty="0">
                        <a:latin typeface="Cambria" charset="0"/>
                        <a:ea typeface="Cambria" charset="0"/>
                        <a:cs typeface="Cambria"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6167"/>
                    </a:solidFill>
                  </a:tcPr>
                </a:tc>
                <a:extLst>
                  <a:ext uri="{0D108BD9-81ED-4DB2-BD59-A6C34878D82A}">
                    <a16:rowId xmlns:a16="http://schemas.microsoft.com/office/drawing/2014/main" val="10000"/>
                  </a:ext>
                </a:extLst>
              </a:tr>
              <a:tr h="502920">
                <a:tc>
                  <a:txBody>
                    <a:bodyPr/>
                    <a:lstStyle/>
                    <a:p>
                      <a:pPr marL="0" indent="0">
                        <a:buNone/>
                      </a:pPr>
                      <a:r>
                        <a:rPr lang="en-US" sz="1200" b="1" dirty="0">
                          <a:solidFill>
                            <a:srgbClr val="1E2761"/>
                          </a:solidFill>
                          <a:latin typeface="Calibri" pitchFamily="34" charset="0"/>
                          <a:ea typeface="Calibri" pitchFamily="34" charset="-122"/>
                          <a:cs typeface="Calibri" pitchFamily="34" charset="-120"/>
                        </a:rPr>
                        <a:t>Sample efficiency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Low — data discarded</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High — replay reuses data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b="1" dirty="0">
                          <a:solidFill>
                            <a:srgbClr val="1E2761"/>
                          </a:solidFill>
                          <a:latin typeface="Calibri" pitchFamily="34" charset="0"/>
                          <a:ea typeface="Calibri" pitchFamily="34" charset="-122"/>
                          <a:cs typeface="Calibri" pitchFamily="34" charset="-120"/>
                        </a:rPr>
                        <a:t>Stability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FAFA"/>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Smooth (data matches policy)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FAFA"/>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Can oscillate (stale data)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1E2761"/>
                          </a:solidFill>
                          <a:latin typeface="Calibri" pitchFamily="34" charset="0"/>
                          <a:ea typeface="Calibri" pitchFamily="34" charset="-122"/>
                          <a:cs typeface="Calibri" pitchFamily="34" charset="-120"/>
                        </a:rPr>
                        <a:t>Exploration</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Policy stochasticity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Entropy bonus + replay diversity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b="1" dirty="0">
                          <a:solidFill>
                            <a:srgbClr val="1E2761"/>
                          </a:solidFill>
                          <a:latin typeface="Calibri" pitchFamily="34" charset="0"/>
                          <a:ea typeface="Calibri" pitchFamily="34" charset="-122"/>
                          <a:cs typeface="Calibri" pitchFamily="34" charset="-120"/>
                        </a:rPr>
                        <a:t>Hyperparameter tuning</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FAFA"/>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More forgiving</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FAFA"/>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Sensitive (τ, α, critic lr)</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02920">
                <a:tc>
                  <a:txBody>
                    <a:bodyPr/>
                    <a:lstStyle/>
                    <a:p>
                      <a:pPr marL="0" indent="0">
                        <a:buNone/>
                      </a:pPr>
                      <a:r>
                        <a:rPr lang="en-US" sz="1200" b="1" dirty="0">
                          <a:solidFill>
                            <a:srgbClr val="1E2761"/>
                          </a:solidFill>
                          <a:latin typeface="Calibri" pitchFamily="34" charset="0"/>
                          <a:ea typeface="Calibri" pitchFamily="34" charset="-122"/>
                          <a:cs typeface="Calibri" pitchFamily="34" charset="-120"/>
                        </a:rPr>
                        <a:t>Wall-clock time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Fast update, slow to converge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Slow update, fewer env steps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00" b="1" dirty="0">
                          <a:solidFill>
                            <a:srgbClr val="1E2761"/>
                          </a:solidFill>
                          <a:latin typeface="Calibri" pitchFamily="34" charset="0"/>
                          <a:ea typeface="Calibri" pitchFamily="34" charset="-122"/>
                          <a:cs typeface="Calibri" pitchFamily="34" charset="-120"/>
                        </a:rPr>
                        <a:t>Complexity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FAFA"/>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Simple (no replay/target nets)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FAFA"/>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Replay + target nets + 3 opts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bl>
          </a:graphicData>
        </a:graphic>
      </p:graphicFrame>
      <p:sp>
        <p:nvSpPr>
          <p:cNvPr id="7" name="Shape 4"/>
          <p:cNvSpPr/>
          <p:nvPr/>
        </p:nvSpPr>
        <p:spPr>
          <a:xfrm>
            <a:off x="548640" y="5760720"/>
            <a:ext cx="11064240" cy="868680"/>
          </a:xfrm>
          <a:prstGeom prst="rect">
            <a:avLst/>
          </a:prstGeom>
          <a:solidFill>
            <a:srgbClr val="1E2761"/>
          </a:solidFill>
          <a:ln w="12700">
            <a:solidFill>
              <a:srgbClr val="1E2761"/>
            </a:solidFill>
            <a:prstDash val="solid"/>
          </a:ln>
        </p:spPr>
        <p:txBody>
          <a:bodyPr/>
          <a:lstStyle/>
          <a:p>
            <a:endParaRPr lang="en-KZ"/>
          </a:p>
        </p:txBody>
      </p:sp>
      <p:sp>
        <p:nvSpPr>
          <p:cNvPr id="8" name="Text 5"/>
          <p:cNvSpPr/>
          <p:nvPr/>
        </p:nvSpPr>
        <p:spPr>
          <a:xfrm>
            <a:off x="731520" y="5852160"/>
            <a:ext cx="1069848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Pick PPO for cheap simulation and stability. Pick SAC for real robots where every sample costs.</a:t>
            </a:r>
            <a:endParaRPr lang="en-US" sz="1400" dirty="0"/>
          </a:p>
        </p:txBody>
      </p:sp>
      <p:sp>
        <p:nvSpPr>
          <p:cNvPr id="9" name="Text 6"/>
          <p:cNvSpPr/>
          <p:nvPr/>
        </p:nvSpPr>
        <p:spPr>
          <a:xfrm>
            <a:off x="731520" y="6217920"/>
            <a:ext cx="10698480" cy="32004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Both trained 500 iters on SO100 — PPO 54.7 return, SAC 42.1. Same budget, different tradeoffs.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875520" y="-914400"/>
            <a:ext cx="4114800" cy="4114800"/>
          </a:xfrm>
          <a:prstGeom prst="ellipse">
            <a:avLst/>
          </a:prstGeom>
          <a:solidFill>
            <a:srgbClr val="2D3F7D">
              <a:alpha val="50000"/>
            </a:srgbClr>
          </a:solidFill>
          <a:ln w="12700">
            <a:solidFill>
              <a:srgbClr val="2D3F7D"/>
            </a:solidFill>
            <a:prstDash val="solid"/>
          </a:ln>
        </p:spPr>
        <p:txBody>
          <a:bodyPr/>
          <a:lstStyle/>
          <a:p>
            <a:endParaRPr lang="en-KZ"/>
          </a:p>
        </p:txBody>
      </p:sp>
      <p:sp>
        <p:nvSpPr>
          <p:cNvPr id="3" name="Shape 1"/>
          <p:cNvSpPr/>
          <p:nvPr/>
        </p:nvSpPr>
        <p:spPr>
          <a:xfrm>
            <a:off x="0" y="0"/>
            <a:ext cx="228600" cy="6858000"/>
          </a:xfrm>
          <a:prstGeom prst="rect">
            <a:avLst/>
          </a:prstGeom>
          <a:solidFill>
            <a:srgbClr val="F96167"/>
          </a:solidFill>
          <a:ln w="12700">
            <a:solidFill>
              <a:srgbClr val="F96167"/>
            </a:solidFill>
            <a:prstDash val="solid"/>
          </a:ln>
        </p:spPr>
        <p:txBody>
          <a:bodyPr/>
          <a:lstStyle/>
          <a:p>
            <a:endParaRPr lang="en-KZ"/>
          </a:p>
        </p:txBody>
      </p:sp>
      <p:sp>
        <p:nvSpPr>
          <p:cNvPr id="4" name="Text 2"/>
          <p:cNvSpPr/>
          <p:nvPr/>
        </p:nvSpPr>
        <p:spPr>
          <a:xfrm>
            <a:off x="731520" y="457200"/>
            <a:ext cx="109728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PPO vs SAC — Side by Side</a:t>
            </a:r>
            <a:endParaRPr lang="en-US" sz="2800" dirty="0"/>
          </a:p>
        </p:txBody>
      </p:sp>
      <p:sp>
        <p:nvSpPr>
          <p:cNvPr id="5" name="Text 3"/>
          <p:cNvSpPr/>
          <p:nvPr/>
        </p:nvSpPr>
        <p:spPr>
          <a:xfrm>
            <a:off x="731520" y="1097280"/>
            <a:ext cx="10972800" cy="36576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Same SO100 task, same 500 iterations, same reward structure.</a:t>
            </a:r>
            <a:endParaRPr lang="en-US" sz="1400" dirty="0"/>
          </a:p>
        </p:txBody>
      </p:sp>
      <p:sp>
        <p:nvSpPr>
          <p:cNvPr id="6" name="Shape 4"/>
          <p:cNvSpPr/>
          <p:nvPr/>
        </p:nvSpPr>
        <p:spPr>
          <a:xfrm>
            <a:off x="548640" y="1737360"/>
            <a:ext cx="5532120" cy="3657600"/>
          </a:xfrm>
          <a:prstGeom prst="rect">
            <a:avLst/>
          </a:prstGeom>
          <a:solidFill>
            <a:srgbClr val="FFFFFF"/>
          </a:solidFill>
          <a:ln w="12700">
            <a:solidFill>
              <a:srgbClr val="FFFFFF"/>
            </a:solidFill>
            <a:prstDash val="solid"/>
          </a:ln>
        </p:spPr>
        <p:txBody>
          <a:bodyPr/>
          <a:lstStyle/>
          <a:p>
            <a:endParaRPr lang="en-KZ"/>
          </a:p>
        </p:txBody>
      </p:sp>
      <p:sp>
        <p:nvSpPr>
          <p:cNvPr id="7" name="Text 5"/>
          <p:cNvSpPr/>
          <p:nvPr/>
        </p:nvSpPr>
        <p:spPr>
          <a:xfrm>
            <a:off x="731520" y="1828800"/>
            <a:ext cx="5212080" cy="274320"/>
          </a:xfrm>
          <a:prstGeom prst="rect">
            <a:avLst/>
          </a:prstGeom>
          <a:noFill/>
          <a:ln/>
        </p:spPr>
        <p:txBody>
          <a:bodyPr wrap="square" lIns="0" tIns="0" rIns="0" bIns="0" rtlCol="0" anchor="ctr"/>
          <a:lstStyle/>
          <a:p>
            <a:pPr marL="0" indent="0">
              <a:buNone/>
            </a:pPr>
            <a:r>
              <a:rPr lang="en-US" sz="1200" b="1" dirty="0">
                <a:solidFill>
                  <a:srgbClr val="1E2761"/>
                </a:solidFill>
                <a:latin typeface="Cambria" pitchFamily="34" charset="0"/>
                <a:ea typeface="Cambria" pitchFamily="34" charset="-122"/>
                <a:cs typeface="Cambria" pitchFamily="34" charset="-120"/>
              </a:rPr>
              <a:t>Eval Return</a:t>
            </a:r>
            <a:endParaRPr lang="en-US" sz="1200" dirty="0"/>
          </a:p>
        </p:txBody>
      </p:sp>
      <p:pic>
        <p:nvPicPr>
          <p:cNvPr id="8" name="Image 0" descr="/Users/shyngys/ethz/robot_learning/ethz-course-2026/hw4_reinforcement_learning/logs/comparison/ppo_vs_sac_eval_return.png"/>
          <p:cNvPicPr>
            <a:picLocks noChangeAspect="1"/>
          </p:cNvPicPr>
          <p:nvPr/>
        </p:nvPicPr>
        <p:blipFill>
          <a:blip r:embed="rId3"/>
          <a:srcRect/>
          <a:stretch/>
        </p:blipFill>
        <p:spPr>
          <a:xfrm>
            <a:off x="640080" y="2148840"/>
            <a:ext cx="5349240" cy="3154680"/>
          </a:xfrm>
          <a:prstGeom prst="rect">
            <a:avLst/>
          </a:prstGeom>
        </p:spPr>
      </p:pic>
      <p:sp>
        <p:nvSpPr>
          <p:cNvPr id="9" name="Shape 6"/>
          <p:cNvSpPr/>
          <p:nvPr/>
        </p:nvSpPr>
        <p:spPr>
          <a:xfrm>
            <a:off x="6217920" y="1737360"/>
            <a:ext cx="5532120" cy="3657600"/>
          </a:xfrm>
          <a:prstGeom prst="rect">
            <a:avLst/>
          </a:prstGeom>
          <a:solidFill>
            <a:srgbClr val="FFFFFF"/>
          </a:solidFill>
          <a:ln w="12700">
            <a:solidFill>
              <a:srgbClr val="FFFFFF"/>
            </a:solidFill>
            <a:prstDash val="solid"/>
          </a:ln>
        </p:spPr>
        <p:txBody>
          <a:bodyPr/>
          <a:lstStyle/>
          <a:p>
            <a:endParaRPr lang="en-KZ"/>
          </a:p>
        </p:txBody>
      </p:sp>
      <p:sp>
        <p:nvSpPr>
          <p:cNvPr id="10" name="Text 7"/>
          <p:cNvSpPr/>
          <p:nvPr/>
        </p:nvSpPr>
        <p:spPr>
          <a:xfrm>
            <a:off x="6400800" y="1828800"/>
            <a:ext cx="5212080" cy="274320"/>
          </a:xfrm>
          <a:prstGeom prst="rect">
            <a:avLst/>
          </a:prstGeom>
          <a:noFill/>
          <a:ln/>
        </p:spPr>
        <p:txBody>
          <a:bodyPr wrap="square" lIns="0" tIns="0" rIns="0" bIns="0" rtlCol="0" anchor="ctr"/>
          <a:lstStyle/>
          <a:p>
            <a:pPr marL="0" indent="0">
              <a:buNone/>
            </a:pPr>
            <a:r>
              <a:rPr lang="en-US" sz="1200" b="1" dirty="0">
                <a:solidFill>
                  <a:srgbClr val="1E2761"/>
                </a:solidFill>
                <a:latin typeface="Cambria" pitchFamily="34" charset="0"/>
                <a:ea typeface="Cambria" pitchFamily="34" charset="-122"/>
                <a:cs typeface="Cambria" pitchFamily="34" charset="-120"/>
              </a:rPr>
              <a:t>End-Effector Tracking Error</a:t>
            </a:r>
            <a:endParaRPr lang="en-US" sz="1200" dirty="0"/>
          </a:p>
        </p:txBody>
      </p:sp>
      <p:pic>
        <p:nvPicPr>
          <p:cNvPr id="11" name="Image 1" descr="/Users/shyngys/ethz/robot_learning/ethz-course-2026/hw4_reinforcement_learning/logs/comparison/ppo_vs_sac_eval_ee_tracking_error.png"/>
          <p:cNvPicPr>
            <a:picLocks noChangeAspect="1"/>
          </p:cNvPicPr>
          <p:nvPr/>
        </p:nvPicPr>
        <p:blipFill>
          <a:blip r:embed="rId4"/>
          <a:srcRect/>
          <a:stretch/>
        </p:blipFill>
        <p:spPr>
          <a:xfrm>
            <a:off x="6309360" y="2148840"/>
            <a:ext cx="5349240" cy="3154680"/>
          </a:xfrm>
          <a:prstGeom prst="rect">
            <a:avLst/>
          </a:prstGeom>
        </p:spPr>
      </p:pic>
      <p:sp>
        <p:nvSpPr>
          <p:cNvPr id="12" name="Shape 8"/>
          <p:cNvSpPr/>
          <p:nvPr/>
        </p:nvSpPr>
        <p:spPr>
          <a:xfrm>
            <a:off x="548640" y="5577840"/>
            <a:ext cx="11064240" cy="1005840"/>
          </a:xfrm>
          <a:prstGeom prst="rect">
            <a:avLst/>
          </a:prstGeom>
          <a:solidFill>
            <a:srgbClr val="F96167"/>
          </a:solidFill>
          <a:ln w="12700">
            <a:solidFill>
              <a:srgbClr val="F96167"/>
            </a:solidFill>
            <a:prstDash val="solid"/>
          </a:ln>
        </p:spPr>
        <p:txBody>
          <a:bodyPr/>
          <a:lstStyle/>
          <a:p>
            <a:endParaRPr lang="en-KZ"/>
          </a:p>
        </p:txBody>
      </p:sp>
      <p:sp>
        <p:nvSpPr>
          <p:cNvPr id="13" name="Text 9"/>
          <p:cNvSpPr/>
          <p:nvPr/>
        </p:nvSpPr>
        <p:spPr>
          <a:xfrm>
            <a:off x="731520" y="5669280"/>
            <a:ext cx="1097280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14" name="Text 10"/>
          <p:cNvSpPr/>
          <p:nvPr/>
        </p:nvSpPr>
        <p:spPr>
          <a:xfrm>
            <a:off x="731520" y="6172200"/>
            <a:ext cx="1097280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Shyngys Aitkainov  ·  ETH Zurich Robot Learning 2026  ·  HW4: Reinforcement Learning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2474</Words>
  <Application>Microsoft Macintosh PowerPoint</Application>
  <PresentationFormat>Widescreen</PresentationFormat>
  <Paragraphs>174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HW4: Reinforcement Learning</dc:title>
  <dc:subject>PptxGenJS Presentation</dc:subject>
  <dc:creator>Shyngys Aitkainov</dc:creator>
  <cp:lastModifiedBy>Aitkazinov  Shyngys</cp:lastModifiedBy>
  <cp:revision>3</cp:revision>
  <dcterms:created xsi:type="dcterms:W3CDTF">2026-04-16T20:44:41Z</dcterms:created>
  <dcterms:modified xsi:type="dcterms:W3CDTF">2026-04-16T22:00:45Z</dcterms:modified>
</cp:coreProperties>
</file>